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madam. Our project is CartIQ - a grocery market basket intelligence system. We analyse 50,000 real Instacart shopping records to understand how people shop and to predict whether a product will be reordered. I'll walk you through our data, our fifteen models, and a live working web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goal is to predict whether a product in a shopping basket will be reordered. We used the Kaggle Instacart dataset - 50,000 rows, 14 columns, nearly 4,800 customers and over 11,000 products across 134 aisles and 21 departments. About 59 percent of basket lines are reorders, so the classes are well balanced. The whole project runs as five modules - understand, clean and encode, predict, cluster, and validate - with the raw data never modified.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modelling we explored and cleaned the data. We compared four missing-value strategies - deletion, mean, median and model-based imputation. Only one column, days_since_prior_order, had nulls. We applied three scaling methods and five encoding techniques - label, one-hot, ordinal, target and embedding - producing one clean all-numeric final dataset. The correlation heatmap showed how features move together and confirmed no single feature dominates the target.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started with linear regression to predict basket size - the R-squared was only 0.011, confirming the signal is non-linear. We then built three tree-based classifiers, each inside a complete sklearn pipeline with median imputation and one-hot encoding. The plain Decision Tree gave 72.2 percent accuracy. Random Forest achieved the best F1 score of 80 percent with high recall, and AdaBoost gave the best overall accuracy at 73.3 percent. The tree ensembles clearly outperform linear models, which tells us shopping behaviour is non-linear.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4 groups shoppers into clusters. Using the elbow curve and silhouette score, K-Means found the best grouping at K equals 3 with a silhouette of 0.32. We then reduced the 14 features to 2 dimensions - t-SNE produced a clear visual map, and PCA showed we need 13 of 14 components to keep 95 percent of the variance, confirming information is spread across many features. We also ran DBSCAN, which found 7 dense clusters with zero noise, and compared hierarchical methods where our divisive approach beat standard agglomerative clustering.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5 validates our decision tree with 5-fold stratified cross-validation instead of a single train-test split, so the numbers are more trustworthy. The out-of-fold F1 was 69.1 percent, ROC-AUC 0.681 and PR-AUC 0.700. We also tested how sensitive the model is to outliers - the F1 difference between outlier and normal cases was only 0.014, so the model is stable and reliable.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wrapped the entire project into a Flask web application with ten pages - home, dataset, preprocessing, visualization, models, prediction, dashboard, reports and contact. Every chart you've seen is served live from the outputs folder, and the reports page automatically lists every file each module generated. The interface uses a clean light design so results are easy to read.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live prediction page. You pick a model - Random Forest, AdaBoost or Decision Tree - enter nine order features such as order number, hour of day, aisle and department, and the app loads the actual trained pipeline and predicts instantly. I can demonstrate this live right now. [DEMO TRIGGER: switch to the browser, open http://127.0.0.1:5000/prediction, submit the form with default values, and show the result card with the probability bar.]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summarises all fifteen models. For classification the tree ensembles clearly win - Random Forest and AdaBoost both around 73 percent accuracy with F1 near 80. Linear models underperformed, confirming basket behaviour is non-linear. Clustering and dimensionality reduction gave us interpretable views of shopper segments. Random Forest is our champion model with the best F1 score.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madam. In short, we built a complete machine learning pipeline - from raw data exploration to fifteen trained models to a live web application - and found that tree-based ensembles best predict product reorders. For future scope we would add deep learning on order sequences, integrate a real-time grocery API, and build a personalised recommendation engine on top of the shopper clusters we discovered. We're happy to take any questions, and I can run the live demo again.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BF8"/>
        </a:solidFill>
        <a:effectLst/>
      </p:bgPr>
    </p:bg>
    <p:spTree>
      <p:nvGrpSpPr>
        <p:cNvPr id="1" name=""/>
        <p:cNvGrpSpPr/>
        <p:nvPr/>
      </p:nvGrpSpPr>
      <p:grpSpPr/>
      <p:sp>
        <p:nvSpPr>
          <p:cNvPr id="2" name="Rectangle 1"/>
          <p:cNvSpPr/>
          <p:nvPr/>
        </p:nvSpPr>
        <p:spPr>
          <a:xfrm>
            <a:off x="6949440" y="0"/>
            <a:ext cx="5239512" cy="6858000"/>
          </a:xfrm>
          <a:prstGeom prst="rect">
            <a:avLst/>
          </a:prstGeom>
          <a:solidFill>
            <a:srgbClr val="DC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589520" y="1463040"/>
            <a:ext cx="3840480" cy="3840480"/>
          </a:xfrm>
          <a:prstGeom prst="roundRect">
            <a:avLst/>
          </a:prstGeom>
          <a:solidFill>
            <a:srgbClr val="C3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589520" y="2103120"/>
            <a:ext cx="3840480" cy="2194560"/>
          </a:xfrm>
          <a:prstGeom prst="rect">
            <a:avLst/>
          </a:prstGeom>
          <a:noFill/>
        </p:spPr>
        <p:txBody>
          <a:bodyPr wrap="square" anchor="ctr">
            <a:spAutoFit/>
          </a:bodyPr>
          <a:lstStyle/>
          <a:p>
            <a:pPr algn="ctr"/>
            <a:r>
              <a:rPr sz="11000" b="0">
                <a:solidFill>
                  <a:srgbClr val="17332C"/>
                </a:solidFill>
                <a:latin typeface="Segoe UI"/>
              </a:rPr>
              <a:t>🛺</a:t>
            </a:r>
          </a:p>
        </p:txBody>
      </p:sp>
      <p:sp>
        <p:nvSpPr>
          <p:cNvPr id="5" name="TextBox 4"/>
          <p:cNvSpPr txBox="1"/>
          <p:nvPr/>
        </p:nvSpPr>
        <p:spPr>
          <a:xfrm>
            <a:off x="822960" y="1371600"/>
            <a:ext cx="5852160" cy="457200"/>
          </a:xfrm>
          <a:prstGeom prst="rect">
            <a:avLst/>
          </a:prstGeom>
          <a:noFill/>
        </p:spPr>
        <p:txBody>
          <a:bodyPr wrap="square" anchor="t">
            <a:spAutoFit/>
          </a:bodyPr>
          <a:lstStyle/>
          <a:p>
            <a:pPr algn="l"/>
            <a:r>
              <a:rPr sz="1300" b="1">
                <a:solidFill>
                  <a:srgbClr val="10B981"/>
                </a:solidFill>
                <a:latin typeface="Segoe UI"/>
              </a:rPr>
              <a:t>MACHINE LEARNING PROJECT REVIEW</a:t>
            </a:r>
          </a:p>
        </p:txBody>
      </p:sp>
      <p:sp>
        <p:nvSpPr>
          <p:cNvPr id="6" name="TextBox 5"/>
          <p:cNvSpPr txBox="1"/>
          <p:nvPr/>
        </p:nvSpPr>
        <p:spPr>
          <a:xfrm>
            <a:off x="822960" y="1874519"/>
            <a:ext cx="6035040" cy="1463040"/>
          </a:xfrm>
          <a:prstGeom prst="rect">
            <a:avLst/>
          </a:prstGeom>
          <a:noFill/>
        </p:spPr>
        <p:txBody>
          <a:bodyPr wrap="square" anchor="t">
            <a:spAutoFit/>
          </a:bodyPr>
          <a:lstStyle/>
          <a:p>
            <a:pPr algn="l"/>
            <a:r>
              <a:rPr sz="6400" b="1">
                <a:solidFill>
                  <a:srgbClr val="17332C"/>
                </a:solidFill>
                <a:latin typeface="Segoe UI"/>
              </a:rPr>
              <a:t>CartIQ</a:t>
            </a:r>
          </a:p>
        </p:txBody>
      </p:sp>
      <p:sp>
        <p:nvSpPr>
          <p:cNvPr id="7" name="TextBox 6"/>
          <p:cNvSpPr txBox="1"/>
          <p:nvPr/>
        </p:nvSpPr>
        <p:spPr>
          <a:xfrm>
            <a:off x="822960" y="3063240"/>
            <a:ext cx="6035040" cy="822960"/>
          </a:xfrm>
          <a:prstGeom prst="rect">
            <a:avLst/>
          </a:prstGeom>
          <a:noFill/>
        </p:spPr>
        <p:txBody>
          <a:bodyPr wrap="square" anchor="t">
            <a:spAutoFit/>
          </a:bodyPr>
          <a:lstStyle/>
          <a:p>
            <a:pPr algn="l"/>
            <a:r>
              <a:rPr sz="2600" b="1">
                <a:solidFill>
                  <a:srgbClr val="0D9488"/>
                </a:solidFill>
                <a:latin typeface="Segoe UI"/>
              </a:rPr>
              <a:t>Grocery Market Basket Intelligence</a:t>
            </a:r>
          </a:p>
        </p:txBody>
      </p:sp>
      <p:sp>
        <p:nvSpPr>
          <p:cNvPr id="8" name="TextBox 7"/>
          <p:cNvSpPr txBox="1"/>
          <p:nvPr/>
        </p:nvSpPr>
        <p:spPr>
          <a:xfrm>
            <a:off x="822960" y="3977639"/>
            <a:ext cx="5852160" cy="822960"/>
          </a:xfrm>
          <a:prstGeom prst="rect">
            <a:avLst/>
          </a:prstGeom>
          <a:noFill/>
        </p:spPr>
        <p:txBody>
          <a:bodyPr wrap="square" anchor="t">
            <a:spAutoFit/>
          </a:bodyPr>
          <a:lstStyle/>
          <a:p>
            <a:pPr algn="l"/>
            <a:r>
              <a:rPr sz="1700" b="0">
                <a:solidFill>
                  <a:srgbClr val="5B7770"/>
                </a:solidFill>
                <a:latin typeface="Segoe UI"/>
              </a:rPr>
              <a:t>Predicting product reorders from</a:t>
            </a:r>
            <a:br/>
            <a:r>
              <a:t>50,000 real shopping baskets</a:t>
            </a:r>
          </a:p>
        </p:txBody>
      </p:sp>
      <p:sp>
        <p:nvSpPr>
          <p:cNvPr id="9" name="Rectangle 8"/>
          <p:cNvSpPr/>
          <p:nvPr/>
        </p:nvSpPr>
        <p:spPr>
          <a:xfrm>
            <a:off x="822960" y="5120640"/>
            <a:ext cx="237744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5349240"/>
            <a:ext cx="5852160" cy="365760"/>
          </a:xfrm>
          <a:prstGeom prst="rect">
            <a:avLst/>
          </a:prstGeom>
          <a:noFill/>
        </p:spPr>
        <p:txBody>
          <a:bodyPr wrap="square" anchor="t">
            <a:spAutoFit/>
          </a:bodyPr>
          <a:lstStyle/>
          <a:p>
            <a:pPr algn="l"/>
            <a:r>
              <a:rPr sz="1300" b="0">
                <a:solidFill>
                  <a:srgbClr val="5B7770"/>
                </a:solidFill>
                <a:latin typeface="Segoe UI"/>
              </a:rPr>
              <a:t>Python  ·  Pandas  ·  scikit-learn  ·  Flask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BF8"/>
        </a:solidFill>
        <a:effectLst/>
      </p:bgPr>
    </p:bg>
    <p:spTree>
      <p:nvGrpSpPr>
        <p:cNvPr id="1" name=""/>
        <p:cNvGrpSpPr/>
        <p:nvPr/>
      </p:nvGrpSpPr>
      <p:grpSpPr/>
      <p:sp>
        <p:nvSpPr>
          <p:cNvPr id="2" name="Rounded Rectangle 1"/>
          <p:cNvSpPr/>
          <p:nvPr/>
        </p:nvSpPr>
        <p:spPr>
          <a:xfrm>
            <a:off x="502920" y="384048"/>
            <a:ext cx="128016" cy="47548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8686800" cy="640080"/>
          </a:xfrm>
          <a:prstGeom prst="rect">
            <a:avLst/>
          </a:prstGeom>
          <a:noFill/>
        </p:spPr>
        <p:txBody>
          <a:bodyPr wrap="square" anchor="t">
            <a:spAutoFit/>
          </a:bodyPr>
          <a:lstStyle/>
          <a:p>
            <a:pPr algn="l"/>
            <a:r>
              <a:rPr sz="3000" b="1">
                <a:solidFill>
                  <a:srgbClr val="17332C"/>
                </a:solidFill>
                <a:latin typeface="Segoe UI"/>
              </a:rPr>
              <a:t>The problem &amp; our data</a:t>
            </a:r>
          </a:p>
        </p:txBody>
      </p:sp>
      <p:sp>
        <p:nvSpPr>
          <p:cNvPr id="4" name="TextBox 3"/>
          <p:cNvSpPr txBox="1"/>
          <p:nvPr/>
        </p:nvSpPr>
        <p:spPr>
          <a:xfrm>
            <a:off x="11064240" y="365760"/>
            <a:ext cx="822960" cy="365760"/>
          </a:xfrm>
          <a:prstGeom prst="rect">
            <a:avLst/>
          </a:prstGeom>
          <a:noFill/>
        </p:spPr>
        <p:txBody>
          <a:bodyPr wrap="square" anchor="t">
            <a:spAutoFit/>
          </a:bodyPr>
          <a:lstStyle/>
          <a:p>
            <a:pPr algn="r"/>
            <a:r>
              <a:rPr sz="1100" b="1">
                <a:solidFill>
                  <a:srgbClr val="8AA39C"/>
                </a:solidFill>
                <a:latin typeface="Segoe UI"/>
              </a:rPr>
              <a:t>02/10</a:t>
            </a:r>
          </a:p>
        </p:txBody>
      </p:sp>
      <p:sp>
        <p:nvSpPr>
          <p:cNvPr id="5" name="TextBox 4"/>
          <p:cNvSpPr txBox="1"/>
          <p:nvPr/>
        </p:nvSpPr>
        <p:spPr>
          <a:xfrm>
            <a:off x="777240" y="1417320"/>
            <a:ext cx="5120640" cy="2926080"/>
          </a:xfrm>
          <a:prstGeom prst="rect">
            <a:avLst/>
          </a:prstGeom>
          <a:noFill/>
        </p:spPr>
        <p:txBody>
          <a:bodyPr wrap="square">
            <a:spAutoFit/>
          </a:bodyPr>
          <a:lstStyle/>
          <a:p>
            <a:pPr>
              <a:spcAft>
                <a:spcPts val="1600"/>
              </a:spcAft>
            </a:pPr>
            <a:r>
              <a:t>•  Predict product reorders from basket data</a:t>
            </a:r>
          </a:p>
          <a:p>
            <a:pPr>
              <a:spcAft>
                <a:spcPts val="1600"/>
              </a:spcAft>
            </a:pPr>
            <a:r>
              <a:t>•  50,000 rows · 4,799 customers · 11,650 products</a:t>
            </a:r>
          </a:p>
          <a:p>
            <a:pPr>
              <a:spcAft>
                <a:spcPts val="1600"/>
              </a:spcAft>
            </a:pPr>
            <a:r>
              <a:t>•  134 aisles · 21 departments</a:t>
            </a:r>
          </a:p>
          <a:p>
            <a:pPr>
              <a:spcAft>
                <a:spcPts val="1600"/>
              </a:spcAft>
            </a:pPr>
            <a:r>
              <a:t>•  59% of items are reorders</a:t>
            </a:r>
          </a:p>
        </p:txBody>
      </p:sp>
      <p:sp>
        <p:nvSpPr>
          <p:cNvPr id="6" name="Rounded Rectangle 5"/>
          <p:cNvSpPr/>
          <p:nvPr/>
        </p:nvSpPr>
        <p:spPr>
          <a:xfrm>
            <a:off x="777240" y="4480560"/>
            <a:ext cx="960120" cy="960120"/>
          </a:xfrm>
          <a:prstGeom prst="roundRect">
            <a:avLst/>
          </a:prstGeom>
          <a:solidFill>
            <a:srgbClr val="DC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572000"/>
            <a:ext cx="960120" cy="365760"/>
          </a:xfrm>
          <a:prstGeom prst="rect">
            <a:avLst/>
          </a:prstGeom>
          <a:noFill/>
        </p:spPr>
        <p:txBody>
          <a:bodyPr wrap="square" anchor="t">
            <a:spAutoFit/>
          </a:bodyPr>
          <a:lstStyle/>
          <a:p>
            <a:pPr algn="ctr"/>
            <a:r>
              <a:rPr sz="1500" b="1">
                <a:solidFill>
                  <a:srgbClr val="0D9488"/>
                </a:solidFill>
                <a:latin typeface="Segoe UI"/>
              </a:rPr>
              <a:t>M1</a:t>
            </a:r>
          </a:p>
        </p:txBody>
      </p:sp>
      <p:sp>
        <p:nvSpPr>
          <p:cNvPr id="8" name="TextBox 7"/>
          <p:cNvSpPr txBox="1"/>
          <p:nvPr/>
        </p:nvSpPr>
        <p:spPr>
          <a:xfrm>
            <a:off x="640080" y="4956048"/>
            <a:ext cx="1234440" cy="365760"/>
          </a:xfrm>
          <a:prstGeom prst="rect">
            <a:avLst/>
          </a:prstGeom>
          <a:noFill/>
        </p:spPr>
        <p:txBody>
          <a:bodyPr wrap="square" anchor="t">
            <a:spAutoFit/>
          </a:bodyPr>
          <a:lstStyle/>
          <a:p>
            <a:pPr algn="ctr"/>
            <a:r>
              <a:rPr sz="900" b="0">
                <a:solidFill>
                  <a:srgbClr val="5B7770"/>
                </a:solidFill>
                <a:latin typeface="Segoe UI"/>
              </a:rPr>
              <a:t>Understand</a:t>
            </a:r>
          </a:p>
        </p:txBody>
      </p:sp>
      <p:sp>
        <p:nvSpPr>
          <p:cNvPr id="9" name="Rounded Rectangle 8"/>
          <p:cNvSpPr/>
          <p:nvPr/>
        </p:nvSpPr>
        <p:spPr>
          <a:xfrm>
            <a:off x="1856232" y="4480560"/>
            <a:ext cx="960120" cy="960120"/>
          </a:xfrm>
          <a:prstGeom prst="roundRect">
            <a:avLst/>
          </a:prstGeom>
          <a:solidFill>
            <a:srgbClr val="DC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56232" y="4572000"/>
            <a:ext cx="960120" cy="365760"/>
          </a:xfrm>
          <a:prstGeom prst="rect">
            <a:avLst/>
          </a:prstGeom>
          <a:noFill/>
        </p:spPr>
        <p:txBody>
          <a:bodyPr wrap="square" anchor="t">
            <a:spAutoFit/>
          </a:bodyPr>
          <a:lstStyle/>
          <a:p>
            <a:pPr algn="ctr"/>
            <a:r>
              <a:rPr sz="1500" b="1">
                <a:solidFill>
                  <a:srgbClr val="0D9488"/>
                </a:solidFill>
                <a:latin typeface="Segoe UI"/>
              </a:rPr>
              <a:t>M2</a:t>
            </a:r>
          </a:p>
        </p:txBody>
      </p:sp>
      <p:sp>
        <p:nvSpPr>
          <p:cNvPr id="11" name="TextBox 10"/>
          <p:cNvSpPr txBox="1"/>
          <p:nvPr/>
        </p:nvSpPr>
        <p:spPr>
          <a:xfrm>
            <a:off x="1719072" y="4956048"/>
            <a:ext cx="1234440" cy="365760"/>
          </a:xfrm>
          <a:prstGeom prst="rect">
            <a:avLst/>
          </a:prstGeom>
          <a:noFill/>
        </p:spPr>
        <p:txBody>
          <a:bodyPr wrap="square" anchor="t">
            <a:spAutoFit/>
          </a:bodyPr>
          <a:lstStyle/>
          <a:p>
            <a:pPr algn="ctr"/>
            <a:r>
              <a:rPr sz="900" b="0">
                <a:solidFill>
                  <a:srgbClr val="5B7770"/>
                </a:solidFill>
                <a:latin typeface="Segoe UI"/>
              </a:rPr>
              <a:t>Clean &amp; Encode</a:t>
            </a:r>
          </a:p>
        </p:txBody>
      </p:sp>
      <p:sp>
        <p:nvSpPr>
          <p:cNvPr id="12" name="Rounded Rectangle 11"/>
          <p:cNvSpPr/>
          <p:nvPr/>
        </p:nvSpPr>
        <p:spPr>
          <a:xfrm>
            <a:off x="2935224" y="4480560"/>
            <a:ext cx="960120" cy="960120"/>
          </a:xfrm>
          <a:prstGeom prst="roundRect">
            <a:avLst/>
          </a:prstGeom>
          <a:solidFill>
            <a:srgbClr val="DC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35224" y="4572000"/>
            <a:ext cx="960120" cy="365760"/>
          </a:xfrm>
          <a:prstGeom prst="rect">
            <a:avLst/>
          </a:prstGeom>
          <a:noFill/>
        </p:spPr>
        <p:txBody>
          <a:bodyPr wrap="square" anchor="t">
            <a:spAutoFit/>
          </a:bodyPr>
          <a:lstStyle/>
          <a:p>
            <a:pPr algn="ctr"/>
            <a:r>
              <a:rPr sz="1500" b="1">
                <a:solidFill>
                  <a:srgbClr val="0D9488"/>
                </a:solidFill>
                <a:latin typeface="Segoe UI"/>
              </a:rPr>
              <a:t>M3</a:t>
            </a:r>
          </a:p>
        </p:txBody>
      </p:sp>
      <p:sp>
        <p:nvSpPr>
          <p:cNvPr id="14" name="TextBox 13"/>
          <p:cNvSpPr txBox="1"/>
          <p:nvPr/>
        </p:nvSpPr>
        <p:spPr>
          <a:xfrm>
            <a:off x="2798064" y="4956048"/>
            <a:ext cx="1234440" cy="365760"/>
          </a:xfrm>
          <a:prstGeom prst="rect">
            <a:avLst/>
          </a:prstGeom>
          <a:noFill/>
        </p:spPr>
        <p:txBody>
          <a:bodyPr wrap="square" anchor="t">
            <a:spAutoFit/>
          </a:bodyPr>
          <a:lstStyle/>
          <a:p>
            <a:pPr algn="ctr"/>
            <a:r>
              <a:rPr sz="900" b="0">
                <a:solidFill>
                  <a:srgbClr val="5B7770"/>
                </a:solidFill>
                <a:latin typeface="Segoe UI"/>
              </a:rPr>
              <a:t>Predict</a:t>
            </a:r>
          </a:p>
        </p:txBody>
      </p:sp>
      <p:sp>
        <p:nvSpPr>
          <p:cNvPr id="15" name="Rounded Rectangle 14"/>
          <p:cNvSpPr/>
          <p:nvPr/>
        </p:nvSpPr>
        <p:spPr>
          <a:xfrm>
            <a:off x="4014216" y="4480560"/>
            <a:ext cx="960120" cy="960120"/>
          </a:xfrm>
          <a:prstGeom prst="roundRect">
            <a:avLst/>
          </a:prstGeom>
          <a:solidFill>
            <a:srgbClr val="DC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14216" y="4572000"/>
            <a:ext cx="960120" cy="365760"/>
          </a:xfrm>
          <a:prstGeom prst="rect">
            <a:avLst/>
          </a:prstGeom>
          <a:noFill/>
        </p:spPr>
        <p:txBody>
          <a:bodyPr wrap="square" anchor="t">
            <a:spAutoFit/>
          </a:bodyPr>
          <a:lstStyle/>
          <a:p>
            <a:pPr algn="ctr"/>
            <a:r>
              <a:rPr sz="1500" b="1">
                <a:solidFill>
                  <a:srgbClr val="0D9488"/>
                </a:solidFill>
                <a:latin typeface="Segoe UI"/>
              </a:rPr>
              <a:t>M4</a:t>
            </a:r>
          </a:p>
        </p:txBody>
      </p:sp>
      <p:sp>
        <p:nvSpPr>
          <p:cNvPr id="17" name="TextBox 16"/>
          <p:cNvSpPr txBox="1"/>
          <p:nvPr/>
        </p:nvSpPr>
        <p:spPr>
          <a:xfrm>
            <a:off x="3877056" y="4956048"/>
            <a:ext cx="1234440" cy="365760"/>
          </a:xfrm>
          <a:prstGeom prst="rect">
            <a:avLst/>
          </a:prstGeom>
          <a:noFill/>
        </p:spPr>
        <p:txBody>
          <a:bodyPr wrap="square" anchor="t">
            <a:spAutoFit/>
          </a:bodyPr>
          <a:lstStyle/>
          <a:p>
            <a:pPr algn="ctr"/>
            <a:r>
              <a:rPr sz="900" b="0">
                <a:solidFill>
                  <a:srgbClr val="5B7770"/>
                </a:solidFill>
                <a:latin typeface="Segoe UI"/>
              </a:rPr>
              <a:t>Cluster</a:t>
            </a:r>
          </a:p>
        </p:txBody>
      </p:sp>
      <p:sp>
        <p:nvSpPr>
          <p:cNvPr id="18" name="Rounded Rectangle 17"/>
          <p:cNvSpPr/>
          <p:nvPr/>
        </p:nvSpPr>
        <p:spPr>
          <a:xfrm>
            <a:off x="5093208" y="4480560"/>
            <a:ext cx="960120" cy="960120"/>
          </a:xfrm>
          <a:prstGeom prst="roundRect">
            <a:avLst/>
          </a:prstGeom>
          <a:solidFill>
            <a:srgbClr val="DC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93208" y="4572000"/>
            <a:ext cx="960120" cy="365760"/>
          </a:xfrm>
          <a:prstGeom prst="rect">
            <a:avLst/>
          </a:prstGeom>
          <a:noFill/>
        </p:spPr>
        <p:txBody>
          <a:bodyPr wrap="square" anchor="t">
            <a:spAutoFit/>
          </a:bodyPr>
          <a:lstStyle/>
          <a:p>
            <a:pPr algn="ctr"/>
            <a:r>
              <a:rPr sz="1500" b="1">
                <a:solidFill>
                  <a:srgbClr val="0D9488"/>
                </a:solidFill>
                <a:latin typeface="Segoe UI"/>
              </a:rPr>
              <a:t>M5</a:t>
            </a:r>
          </a:p>
        </p:txBody>
      </p:sp>
      <p:sp>
        <p:nvSpPr>
          <p:cNvPr id="20" name="TextBox 19"/>
          <p:cNvSpPr txBox="1"/>
          <p:nvPr/>
        </p:nvSpPr>
        <p:spPr>
          <a:xfrm>
            <a:off x="4956048" y="4956048"/>
            <a:ext cx="1234440" cy="365760"/>
          </a:xfrm>
          <a:prstGeom prst="rect">
            <a:avLst/>
          </a:prstGeom>
          <a:noFill/>
        </p:spPr>
        <p:txBody>
          <a:bodyPr wrap="square" anchor="t">
            <a:spAutoFit/>
          </a:bodyPr>
          <a:lstStyle/>
          <a:p>
            <a:pPr algn="ctr"/>
            <a:r>
              <a:rPr sz="900" b="0">
                <a:solidFill>
                  <a:srgbClr val="5B7770"/>
                </a:solidFill>
                <a:latin typeface="Segoe UI"/>
              </a:rPr>
              <a:t>Validate</a:t>
            </a:r>
          </a:p>
        </p:txBody>
      </p:sp>
      <p:sp>
        <p:nvSpPr>
          <p:cNvPr id="21" name="Rounded Rectangle 20"/>
          <p:cNvSpPr/>
          <p:nvPr/>
        </p:nvSpPr>
        <p:spPr>
          <a:xfrm>
            <a:off x="6199632" y="1816227"/>
            <a:ext cx="5614416" cy="3591306"/>
          </a:xfrm>
          <a:prstGeom prst="roundRect">
            <a:avLst/>
          </a:prstGeom>
          <a:solidFill>
            <a:srgbClr val="FFFFFF"/>
          </a:solidFill>
          <a:ln w="12700">
            <a:solidFill>
              <a:srgbClr val="E2E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Target_Distribution.png"/>
          <p:cNvPicPr>
            <a:picLocks noChangeAspect="1"/>
          </p:cNvPicPr>
          <p:nvPr/>
        </p:nvPicPr>
        <p:blipFill>
          <a:blip r:embed="rId2"/>
          <a:stretch>
            <a:fillRect/>
          </a:stretch>
        </p:blipFill>
        <p:spPr>
          <a:xfrm>
            <a:off x="6309360" y="1925955"/>
            <a:ext cx="5394960" cy="3371850"/>
          </a:xfrm>
          <a:prstGeom prst="rect">
            <a:avLst/>
          </a:prstGeom>
        </p:spPr>
      </p:pic>
      <p:sp>
        <p:nvSpPr>
          <p:cNvPr id="23" name="TextBox 22"/>
          <p:cNvSpPr txBox="1"/>
          <p:nvPr/>
        </p:nvSpPr>
        <p:spPr>
          <a:xfrm>
            <a:off x="502920" y="6446520"/>
            <a:ext cx="5486400" cy="274320"/>
          </a:xfrm>
          <a:prstGeom prst="rect">
            <a:avLst/>
          </a:prstGeom>
          <a:noFill/>
        </p:spPr>
        <p:txBody>
          <a:bodyPr wrap="square" anchor="t">
            <a:spAutoFit/>
          </a:bodyPr>
          <a:lstStyle/>
          <a:p>
            <a:pPr algn="l"/>
            <a:r>
              <a:rPr sz="900" b="0">
                <a:solidFill>
                  <a:srgbClr val="8AA39C"/>
                </a:solidFill>
                <a:latin typeface="Segoe UI"/>
              </a:rPr>
              <a:t>CartIQ  ·  Grocery Market Basket Intelligence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BF8"/>
        </a:solidFill>
        <a:effectLst/>
      </p:bgPr>
    </p:bg>
    <p:spTree>
      <p:nvGrpSpPr>
        <p:cNvPr id="1" name=""/>
        <p:cNvGrpSpPr/>
        <p:nvPr/>
      </p:nvGrpSpPr>
      <p:grpSpPr/>
      <p:sp>
        <p:nvSpPr>
          <p:cNvPr id="2" name="Rounded Rectangle 1"/>
          <p:cNvSpPr/>
          <p:nvPr/>
        </p:nvSpPr>
        <p:spPr>
          <a:xfrm>
            <a:off x="502920" y="384048"/>
            <a:ext cx="128016" cy="47548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8686800" cy="640080"/>
          </a:xfrm>
          <a:prstGeom prst="rect">
            <a:avLst/>
          </a:prstGeom>
          <a:noFill/>
        </p:spPr>
        <p:txBody>
          <a:bodyPr wrap="square" anchor="t">
            <a:spAutoFit/>
          </a:bodyPr>
          <a:lstStyle/>
          <a:p>
            <a:pPr algn="l"/>
            <a:r>
              <a:rPr sz="3000" b="1">
                <a:solidFill>
                  <a:srgbClr val="17332C"/>
                </a:solidFill>
                <a:latin typeface="Segoe UI"/>
              </a:rPr>
              <a:t>Cleaning &amp; exploring the data</a:t>
            </a:r>
          </a:p>
        </p:txBody>
      </p:sp>
      <p:sp>
        <p:nvSpPr>
          <p:cNvPr id="4" name="TextBox 3"/>
          <p:cNvSpPr txBox="1"/>
          <p:nvPr/>
        </p:nvSpPr>
        <p:spPr>
          <a:xfrm>
            <a:off x="11064240" y="365760"/>
            <a:ext cx="822960" cy="365760"/>
          </a:xfrm>
          <a:prstGeom prst="rect">
            <a:avLst/>
          </a:prstGeom>
          <a:noFill/>
        </p:spPr>
        <p:txBody>
          <a:bodyPr wrap="square" anchor="t">
            <a:spAutoFit/>
          </a:bodyPr>
          <a:lstStyle/>
          <a:p>
            <a:pPr algn="r"/>
            <a:r>
              <a:rPr sz="1100" b="1">
                <a:solidFill>
                  <a:srgbClr val="8AA39C"/>
                </a:solidFill>
                <a:latin typeface="Segoe UI"/>
              </a:rPr>
              <a:t>03/10</a:t>
            </a:r>
          </a:p>
        </p:txBody>
      </p:sp>
      <p:sp>
        <p:nvSpPr>
          <p:cNvPr id="5" name="TextBox 4"/>
          <p:cNvSpPr txBox="1"/>
          <p:nvPr/>
        </p:nvSpPr>
        <p:spPr>
          <a:xfrm>
            <a:off x="777240" y="1417320"/>
            <a:ext cx="5120640" cy="3108960"/>
          </a:xfrm>
          <a:prstGeom prst="rect">
            <a:avLst/>
          </a:prstGeom>
          <a:noFill/>
        </p:spPr>
        <p:txBody>
          <a:bodyPr wrap="square">
            <a:spAutoFit/>
          </a:bodyPr>
          <a:lstStyle/>
          <a:p>
            <a:pPr>
              <a:spcAft>
                <a:spcPts val="1600"/>
              </a:spcAft>
            </a:pPr>
            <a:r>
              <a:t>•  4 missing-value strategies compared</a:t>
            </a:r>
          </a:p>
          <a:p>
            <a:pPr>
              <a:spcAft>
                <a:spcPts val="1600"/>
              </a:spcAft>
            </a:pPr>
            <a:r>
              <a:t>•  Standard, Min-Max &amp; L2 scaling</a:t>
            </a:r>
          </a:p>
          <a:p>
            <a:pPr>
              <a:spcAft>
                <a:spcPts val="1600"/>
              </a:spcAft>
            </a:pPr>
            <a:r>
              <a:t>•  5 encoding techniques applied</a:t>
            </a:r>
          </a:p>
          <a:p>
            <a:pPr>
              <a:spcAft>
                <a:spcPts val="1600"/>
              </a:spcAft>
            </a:pPr>
            <a:r>
              <a:t>•  Correlation heatmap revealed feature links</a:t>
            </a:r>
          </a:p>
        </p:txBody>
      </p:sp>
      <p:sp>
        <p:nvSpPr>
          <p:cNvPr id="6" name="Rounded Rectangle 5"/>
          <p:cNvSpPr/>
          <p:nvPr/>
        </p:nvSpPr>
        <p:spPr>
          <a:xfrm>
            <a:off x="777240" y="4434840"/>
            <a:ext cx="5029200" cy="1371600"/>
          </a:xfrm>
          <a:prstGeom prst="roundRect">
            <a:avLst/>
          </a:prstGeom>
          <a:solidFill>
            <a:srgbClr val="FEF6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4572000"/>
            <a:ext cx="4663440" cy="365760"/>
          </a:xfrm>
          <a:prstGeom prst="rect">
            <a:avLst/>
          </a:prstGeom>
          <a:noFill/>
        </p:spPr>
        <p:txBody>
          <a:bodyPr wrap="square" anchor="t">
            <a:spAutoFit/>
          </a:bodyPr>
          <a:lstStyle/>
          <a:p>
            <a:pPr algn="l"/>
            <a:r>
              <a:rPr sz="1400" b="1">
                <a:solidFill>
                  <a:srgbClr val="17332C"/>
                </a:solidFill>
                <a:latin typeface="Segoe UI"/>
              </a:rPr>
              <a:t>Raw data is never modified</a:t>
            </a:r>
          </a:p>
        </p:txBody>
      </p:sp>
      <p:sp>
        <p:nvSpPr>
          <p:cNvPr id="8" name="TextBox 7"/>
          <p:cNvSpPr txBox="1"/>
          <p:nvPr/>
        </p:nvSpPr>
        <p:spPr>
          <a:xfrm>
            <a:off x="1005840" y="4956048"/>
            <a:ext cx="4663440" cy="731520"/>
          </a:xfrm>
          <a:prstGeom prst="rect">
            <a:avLst/>
          </a:prstGeom>
          <a:noFill/>
        </p:spPr>
        <p:txBody>
          <a:bodyPr wrap="square" anchor="t">
            <a:spAutoFit/>
          </a:bodyPr>
          <a:lstStyle/>
          <a:p>
            <a:pPr algn="l"/>
            <a:r>
              <a:rPr sz="1200" b="0">
                <a:solidFill>
                  <a:srgbClr val="5B7770"/>
                </a:solidFill>
                <a:latin typeface="Segoe UI"/>
              </a:rPr>
              <a:t>All cleaning works on copies → one clean all-numeric final dataset</a:t>
            </a:r>
          </a:p>
        </p:txBody>
      </p:sp>
      <p:sp>
        <p:nvSpPr>
          <p:cNvPr id="9" name="Rounded Rectangle 8"/>
          <p:cNvSpPr/>
          <p:nvPr/>
        </p:nvSpPr>
        <p:spPr>
          <a:xfrm>
            <a:off x="6199632" y="1703832"/>
            <a:ext cx="5614416" cy="3816096"/>
          </a:xfrm>
          <a:prstGeom prst="roundRect">
            <a:avLst/>
          </a:prstGeom>
          <a:solidFill>
            <a:srgbClr val="FFFFFF"/>
          </a:solidFill>
          <a:ln w="12700">
            <a:solidFill>
              <a:srgbClr val="E2E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orrelation_Heatmap.png"/>
          <p:cNvPicPr>
            <a:picLocks noChangeAspect="1"/>
          </p:cNvPicPr>
          <p:nvPr/>
        </p:nvPicPr>
        <p:blipFill>
          <a:blip r:embed="rId2"/>
          <a:stretch>
            <a:fillRect/>
          </a:stretch>
        </p:blipFill>
        <p:spPr>
          <a:xfrm>
            <a:off x="6309360" y="1813560"/>
            <a:ext cx="5394960" cy="3596640"/>
          </a:xfrm>
          <a:prstGeom prst="rect">
            <a:avLst/>
          </a:prstGeom>
        </p:spPr>
      </p:pic>
      <p:sp>
        <p:nvSpPr>
          <p:cNvPr id="11" name="TextBox 10"/>
          <p:cNvSpPr txBox="1"/>
          <p:nvPr/>
        </p:nvSpPr>
        <p:spPr>
          <a:xfrm>
            <a:off x="502920" y="6446520"/>
            <a:ext cx="5486400" cy="274320"/>
          </a:xfrm>
          <a:prstGeom prst="rect">
            <a:avLst/>
          </a:prstGeom>
          <a:noFill/>
        </p:spPr>
        <p:txBody>
          <a:bodyPr wrap="square" anchor="t">
            <a:spAutoFit/>
          </a:bodyPr>
          <a:lstStyle/>
          <a:p>
            <a:pPr algn="l"/>
            <a:r>
              <a:rPr sz="900" b="0">
                <a:solidFill>
                  <a:srgbClr val="8AA39C"/>
                </a:solidFill>
                <a:latin typeface="Segoe UI"/>
              </a:rPr>
              <a:t>CartIQ  ·  Grocery Market Basket Intelligence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BF8"/>
        </a:solidFill>
        <a:effectLst/>
      </p:bgPr>
    </p:bg>
    <p:spTree>
      <p:nvGrpSpPr>
        <p:cNvPr id="1" name=""/>
        <p:cNvGrpSpPr/>
        <p:nvPr/>
      </p:nvGrpSpPr>
      <p:grpSpPr/>
      <p:sp>
        <p:nvSpPr>
          <p:cNvPr id="2" name="Rounded Rectangle 1"/>
          <p:cNvSpPr/>
          <p:nvPr/>
        </p:nvSpPr>
        <p:spPr>
          <a:xfrm>
            <a:off x="502920" y="384048"/>
            <a:ext cx="128016" cy="47548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8686800" cy="640080"/>
          </a:xfrm>
          <a:prstGeom prst="rect">
            <a:avLst/>
          </a:prstGeom>
          <a:noFill/>
        </p:spPr>
        <p:txBody>
          <a:bodyPr wrap="square" anchor="t">
            <a:spAutoFit/>
          </a:bodyPr>
          <a:lstStyle/>
          <a:p>
            <a:pPr algn="l"/>
            <a:r>
              <a:rPr sz="3000" b="1">
                <a:solidFill>
                  <a:srgbClr val="17332C"/>
                </a:solidFill>
                <a:latin typeface="Segoe UI"/>
              </a:rPr>
              <a:t>Models that predict reorders</a:t>
            </a:r>
          </a:p>
        </p:txBody>
      </p:sp>
      <p:sp>
        <p:nvSpPr>
          <p:cNvPr id="4" name="TextBox 3"/>
          <p:cNvSpPr txBox="1"/>
          <p:nvPr/>
        </p:nvSpPr>
        <p:spPr>
          <a:xfrm>
            <a:off x="795528" y="841248"/>
            <a:ext cx="9144000" cy="365760"/>
          </a:xfrm>
          <a:prstGeom prst="rect">
            <a:avLst/>
          </a:prstGeom>
          <a:noFill/>
        </p:spPr>
        <p:txBody>
          <a:bodyPr wrap="square" anchor="t">
            <a:spAutoFit/>
          </a:bodyPr>
          <a:lstStyle/>
          <a:p>
            <a:pPr algn="l"/>
            <a:r>
              <a:rPr sz="1300" b="0">
                <a:solidFill>
                  <a:srgbClr val="5B7770"/>
                </a:solidFill>
                <a:latin typeface="Segoe UI"/>
              </a:rPr>
              <a:t>Tree-based ensembles beat linear models — shopping behaviour is non-linear</a:t>
            </a:r>
          </a:p>
        </p:txBody>
      </p:sp>
      <p:sp>
        <p:nvSpPr>
          <p:cNvPr id="5" name="TextBox 4"/>
          <p:cNvSpPr txBox="1"/>
          <p:nvPr/>
        </p:nvSpPr>
        <p:spPr>
          <a:xfrm>
            <a:off x="11064240" y="365760"/>
            <a:ext cx="822960" cy="365760"/>
          </a:xfrm>
          <a:prstGeom prst="rect">
            <a:avLst/>
          </a:prstGeom>
          <a:noFill/>
        </p:spPr>
        <p:txBody>
          <a:bodyPr wrap="square" anchor="t">
            <a:spAutoFit/>
          </a:bodyPr>
          <a:lstStyle/>
          <a:p>
            <a:pPr algn="r"/>
            <a:r>
              <a:rPr sz="1100" b="1">
                <a:solidFill>
                  <a:srgbClr val="8AA39C"/>
                </a:solidFill>
                <a:latin typeface="Segoe UI"/>
              </a:rPr>
              <a:t>04/10</a:t>
            </a:r>
          </a:p>
        </p:txBody>
      </p:sp>
      <p:sp>
        <p:nvSpPr>
          <p:cNvPr id="6" name="Rounded Rectangle 5"/>
          <p:cNvSpPr/>
          <p:nvPr/>
        </p:nvSpPr>
        <p:spPr>
          <a:xfrm>
            <a:off x="777240" y="1508760"/>
            <a:ext cx="5212080" cy="960120"/>
          </a:xfrm>
          <a:prstGeom prst="roundRect">
            <a:avLst/>
          </a:prstGeom>
          <a:solidFill>
            <a:srgbClr val="DF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36776"/>
            <a:ext cx="3657600" cy="365760"/>
          </a:xfrm>
          <a:prstGeom prst="rect">
            <a:avLst/>
          </a:prstGeom>
          <a:noFill/>
        </p:spPr>
        <p:txBody>
          <a:bodyPr wrap="square" anchor="t">
            <a:spAutoFit/>
          </a:bodyPr>
          <a:lstStyle/>
          <a:p>
            <a:pPr algn="l"/>
            <a:r>
              <a:rPr sz="1500" b="1">
                <a:solidFill>
                  <a:srgbClr val="17332C"/>
                </a:solidFill>
                <a:latin typeface="Segoe UI"/>
              </a:rPr>
              <a:t>Linear Regression</a:t>
            </a:r>
          </a:p>
        </p:txBody>
      </p:sp>
      <p:sp>
        <p:nvSpPr>
          <p:cNvPr id="8" name="TextBox 7"/>
          <p:cNvSpPr txBox="1"/>
          <p:nvPr/>
        </p:nvSpPr>
        <p:spPr>
          <a:xfrm>
            <a:off x="1005840" y="2011680"/>
            <a:ext cx="3840480" cy="365760"/>
          </a:xfrm>
          <a:prstGeom prst="rect">
            <a:avLst/>
          </a:prstGeom>
          <a:noFill/>
        </p:spPr>
        <p:txBody>
          <a:bodyPr wrap="square" anchor="t">
            <a:spAutoFit/>
          </a:bodyPr>
          <a:lstStyle/>
          <a:p>
            <a:pPr algn="l"/>
            <a:r>
              <a:rPr sz="1200" b="0">
                <a:solidFill>
                  <a:srgbClr val="5B7770"/>
                </a:solidFill>
                <a:latin typeface="Segoe UI"/>
              </a:rPr>
              <a:t>R² 0.011 — weak signal</a:t>
            </a:r>
          </a:p>
        </p:txBody>
      </p:sp>
      <p:sp>
        <p:nvSpPr>
          <p:cNvPr id="9" name="TextBox 8"/>
          <p:cNvSpPr txBox="1"/>
          <p:nvPr/>
        </p:nvSpPr>
        <p:spPr>
          <a:xfrm>
            <a:off x="5349240" y="1737360"/>
            <a:ext cx="502920" cy="457200"/>
          </a:xfrm>
          <a:prstGeom prst="rect">
            <a:avLst/>
          </a:prstGeom>
          <a:noFill/>
        </p:spPr>
        <p:txBody>
          <a:bodyPr wrap="square" anchor="t">
            <a:spAutoFit/>
          </a:bodyPr>
          <a:lstStyle/>
          <a:p>
            <a:pPr algn="r"/>
            <a:r>
              <a:rPr sz="1600" b="1">
                <a:solidFill>
                  <a:srgbClr val="10B981"/>
                </a:solidFill>
                <a:latin typeface="Segoe UI"/>
              </a:rPr>
              <a:t>01</a:t>
            </a:r>
          </a:p>
        </p:txBody>
      </p:sp>
      <p:sp>
        <p:nvSpPr>
          <p:cNvPr id="10" name="Rounded Rectangle 9"/>
          <p:cNvSpPr/>
          <p:nvPr/>
        </p:nvSpPr>
        <p:spPr>
          <a:xfrm>
            <a:off x="777240" y="2587752"/>
            <a:ext cx="5212080" cy="960120"/>
          </a:xfrm>
          <a:prstGeom prst="roundRect">
            <a:avLst/>
          </a:prstGeom>
          <a:solidFill>
            <a:srgbClr val="DC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715768"/>
            <a:ext cx="3657600" cy="365760"/>
          </a:xfrm>
          <a:prstGeom prst="rect">
            <a:avLst/>
          </a:prstGeom>
          <a:noFill/>
        </p:spPr>
        <p:txBody>
          <a:bodyPr wrap="square" anchor="t">
            <a:spAutoFit/>
          </a:bodyPr>
          <a:lstStyle/>
          <a:p>
            <a:pPr algn="l"/>
            <a:r>
              <a:rPr sz="1500" b="1">
                <a:solidFill>
                  <a:srgbClr val="17332C"/>
                </a:solidFill>
                <a:latin typeface="Segoe UI"/>
              </a:rPr>
              <a:t>Decision Tree</a:t>
            </a:r>
          </a:p>
        </p:txBody>
      </p:sp>
      <p:sp>
        <p:nvSpPr>
          <p:cNvPr id="12" name="TextBox 11"/>
          <p:cNvSpPr txBox="1"/>
          <p:nvPr/>
        </p:nvSpPr>
        <p:spPr>
          <a:xfrm>
            <a:off x="1005840" y="3090672"/>
            <a:ext cx="3840480" cy="365760"/>
          </a:xfrm>
          <a:prstGeom prst="rect">
            <a:avLst/>
          </a:prstGeom>
          <a:noFill/>
        </p:spPr>
        <p:txBody>
          <a:bodyPr wrap="square" anchor="t">
            <a:spAutoFit/>
          </a:bodyPr>
          <a:lstStyle/>
          <a:p>
            <a:pPr algn="l"/>
            <a:r>
              <a:rPr sz="1200" b="0">
                <a:solidFill>
                  <a:srgbClr val="5B7770"/>
                </a:solidFill>
                <a:latin typeface="Segoe UI"/>
              </a:rPr>
              <a:t>Acc 72.2%  ·  F1 78.4%</a:t>
            </a:r>
          </a:p>
        </p:txBody>
      </p:sp>
      <p:sp>
        <p:nvSpPr>
          <p:cNvPr id="13" name="TextBox 12"/>
          <p:cNvSpPr txBox="1"/>
          <p:nvPr/>
        </p:nvSpPr>
        <p:spPr>
          <a:xfrm>
            <a:off x="5349240" y="2816352"/>
            <a:ext cx="502920" cy="457200"/>
          </a:xfrm>
          <a:prstGeom prst="rect">
            <a:avLst/>
          </a:prstGeom>
          <a:noFill/>
        </p:spPr>
        <p:txBody>
          <a:bodyPr wrap="square" anchor="t">
            <a:spAutoFit/>
          </a:bodyPr>
          <a:lstStyle/>
          <a:p>
            <a:pPr algn="r"/>
            <a:r>
              <a:rPr sz="1600" b="1">
                <a:solidFill>
                  <a:srgbClr val="10B981"/>
                </a:solidFill>
                <a:latin typeface="Segoe UI"/>
              </a:rPr>
              <a:t>02</a:t>
            </a:r>
          </a:p>
        </p:txBody>
      </p:sp>
      <p:sp>
        <p:nvSpPr>
          <p:cNvPr id="14" name="Rounded Rectangle 13"/>
          <p:cNvSpPr/>
          <p:nvPr/>
        </p:nvSpPr>
        <p:spPr>
          <a:xfrm>
            <a:off x="777240" y="3666744"/>
            <a:ext cx="5212080" cy="960120"/>
          </a:xfrm>
          <a:prstGeom prst="roundRect">
            <a:avLst/>
          </a:prstGeom>
          <a:solidFill>
            <a:srgbClr val="DC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794760"/>
            <a:ext cx="3657600" cy="365760"/>
          </a:xfrm>
          <a:prstGeom prst="rect">
            <a:avLst/>
          </a:prstGeom>
          <a:noFill/>
        </p:spPr>
        <p:txBody>
          <a:bodyPr wrap="square" anchor="t">
            <a:spAutoFit/>
          </a:bodyPr>
          <a:lstStyle/>
          <a:p>
            <a:pPr algn="l"/>
            <a:r>
              <a:rPr sz="1500" b="1">
                <a:solidFill>
                  <a:srgbClr val="17332C"/>
                </a:solidFill>
                <a:latin typeface="Segoe UI"/>
              </a:rPr>
              <a:t>Random Forest ★</a:t>
            </a:r>
          </a:p>
        </p:txBody>
      </p:sp>
      <p:sp>
        <p:nvSpPr>
          <p:cNvPr id="16" name="TextBox 15"/>
          <p:cNvSpPr txBox="1"/>
          <p:nvPr/>
        </p:nvSpPr>
        <p:spPr>
          <a:xfrm>
            <a:off x="1005840" y="4169664"/>
            <a:ext cx="3840480" cy="365760"/>
          </a:xfrm>
          <a:prstGeom prst="rect">
            <a:avLst/>
          </a:prstGeom>
          <a:noFill/>
        </p:spPr>
        <p:txBody>
          <a:bodyPr wrap="square" anchor="t">
            <a:spAutoFit/>
          </a:bodyPr>
          <a:lstStyle/>
          <a:p>
            <a:pPr algn="l"/>
            <a:r>
              <a:rPr sz="1200" b="0">
                <a:solidFill>
                  <a:srgbClr val="5B7770"/>
                </a:solidFill>
                <a:latin typeface="Segoe UI"/>
              </a:rPr>
              <a:t>Acc 73.0%  ·  F1 80.0%</a:t>
            </a:r>
          </a:p>
        </p:txBody>
      </p:sp>
      <p:sp>
        <p:nvSpPr>
          <p:cNvPr id="17" name="TextBox 16"/>
          <p:cNvSpPr txBox="1"/>
          <p:nvPr/>
        </p:nvSpPr>
        <p:spPr>
          <a:xfrm>
            <a:off x="5349240" y="3895344"/>
            <a:ext cx="502920" cy="457200"/>
          </a:xfrm>
          <a:prstGeom prst="rect">
            <a:avLst/>
          </a:prstGeom>
          <a:noFill/>
        </p:spPr>
        <p:txBody>
          <a:bodyPr wrap="square" anchor="t">
            <a:spAutoFit/>
          </a:bodyPr>
          <a:lstStyle/>
          <a:p>
            <a:pPr algn="r"/>
            <a:r>
              <a:rPr sz="1600" b="1">
                <a:solidFill>
                  <a:srgbClr val="10B981"/>
                </a:solidFill>
                <a:latin typeface="Segoe UI"/>
              </a:rPr>
              <a:t>03</a:t>
            </a:r>
          </a:p>
        </p:txBody>
      </p:sp>
      <p:sp>
        <p:nvSpPr>
          <p:cNvPr id="18" name="Rounded Rectangle 17"/>
          <p:cNvSpPr/>
          <p:nvPr/>
        </p:nvSpPr>
        <p:spPr>
          <a:xfrm>
            <a:off x="777240" y="4745736"/>
            <a:ext cx="5212080" cy="960120"/>
          </a:xfrm>
          <a:prstGeom prst="roundRect">
            <a:avLst/>
          </a:prstGeom>
          <a:solidFill>
            <a:srgbClr val="FF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873752"/>
            <a:ext cx="3657600" cy="365760"/>
          </a:xfrm>
          <a:prstGeom prst="rect">
            <a:avLst/>
          </a:prstGeom>
          <a:noFill/>
        </p:spPr>
        <p:txBody>
          <a:bodyPr wrap="square" anchor="t">
            <a:spAutoFit/>
          </a:bodyPr>
          <a:lstStyle/>
          <a:p>
            <a:pPr algn="l"/>
            <a:r>
              <a:rPr sz="1500" b="1">
                <a:solidFill>
                  <a:srgbClr val="17332C"/>
                </a:solidFill>
                <a:latin typeface="Segoe UI"/>
              </a:rPr>
              <a:t>AdaBoost</a:t>
            </a:r>
          </a:p>
        </p:txBody>
      </p:sp>
      <p:sp>
        <p:nvSpPr>
          <p:cNvPr id="20" name="TextBox 19"/>
          <p:cNvSpPr txBox="1"/>
          <p:nvPr/>
        </p:nvSpPr>
        <p:spPr>
          <a:xfrm>
            <a:off x="1005840" y="5248656"/>
            <a:ext cx="3840480" cy="365760"/>
          </a:xfrm>
          <a:prstGeom prst="rect">
            <a:avLst/>
          </a:prstGeom>
          <a:noFill/>
        </p:spPr>
        <p:txBody>
          <a:bodyPr wrap="square" anchor="t">
            <a:spAutoFit/>
          </a:bodyPr>
          <a:lstStyle/>
          <a:p>
            <a:pPr algn="l"/>
            <a:r>
              <a:rPr sz="1200" b="0">
                <a:solidFill>
                  <a:srgbClr val="5B7770"/>
                </a:solidFill>
                <a:latin typeface="Segoe UI"/>
              </a:rPr>
              <a:t>Acc 73.3%  ·  F1 79.2%</a:t>
            </a:r>
          </a:p>
        </p:txBody>
      </p:sp>
      <p:sp>
        <p:nvSpPr>
          <p:cNvPr id="21" name="TextBox 20"/>
          <p:cNvSpPr txBox="1"/>
          <p:nvPr/>
        </p:nvSpPr>
        <p:spPr>
          <a:xfrm>
            <a:off x="5349240" y="4974336"/>
            <a:ext cx="502920" cy="457200"/>
          </a:xfrm>
          <a:prstGeom prst="rect">
            <a:avLst/>
          </a:prstGeom>
          <a:noFill/>
        </p:spPr>
        <p:txBody>
          <a:bodyPr wrap="square" anchor="t">
            <a:spAutoFit/>
          </a:bodyPr>
          <a:lstStyle/>
          <a:p>
            <a:pPr algn="r"/>
            <a:r>
              <a:rPr sz="1600" b="1">
                <a:solidFill>
                  <a:srgbClr val="10B981"/>
                </a:solidFill>
                <a:latin typeface="Segoe UI"/>
              </a:rPr>
              <a:t>04</a:t>
            </a:r>
          </a:p>
        </p:txBody>
      </p:sp>
      <p:sp>
        <p:nvSpPr>
          <p:cNvPr id="22" name="Rounded Rectangle 21"/>
          <p:cNvSpPr/>
          <p:nvPr/>
        </p:nvSpPr>
        <p:spPr>
          <a:xfrm>
            <a:off x="6291072" y="1425578"/>
            <a:ext cx="5522976" cy="4646924"/>
          </a:xfrm>
          <a:prstGeom prst="roundRect">
            <a:avLst/>
          </a:prstGeom>
          <a:solidFill>
            <a:srgbClr val="FFFFFF"/>
          </a:solidFill>
          <a:ln w="12700">
            <a:solidFill>
              <a:srgbClr val="E2E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confusion_matrix.png"/>
          <p:cNvPicPr>
            <a:picLocks noChangeAspect="1"/>
          </p:cNvPicPr>
          <p:nvPr/>
        </p:nvPicPr>
        <p:blipFill>
          <a:blip r:embed="rId2"/>
          <a:stretch>
            <a:fillRect/>
          </a:stretch>
        </p:blipFill>
        <p:spPr>
          <a:xfrm>
            <a:off x="6400800" y="1535306"/>
            <a:ext cx="5303520" cy="4427468"/>
          </a:xfrm>
          <a:prstGeom prst="rect">
            <a:avLst/>
          </a:prstGeom>
        </p:spPr>
      </p:pic>
      <p:sp>
        <p:nvSpPr>
          <p:cNvPr id="24" name="TextBox 23"/>
          <p:cNvSpPr txBox="1"/>
          <p:nvPr/>
        </p:nvSpPr>
        <p:spPr>
          <a:xfrm>
            <a:off x="502920" y="6446520"/>
            <a:ext cx="5486400" cy="274320"/>
          </a:xfrm>
          <a:prstGeom prst="rect">
            <a:avLst/>
          </a:prstGeom>
          <a:noFill/>
        </p:spPr>
        <p:txBody>
          <a:bodyPr wrap="square" anchor="t">
            <a:spAutoFit/>
          </a:bodyPr>
          <a:lstStyle/>
          <a:p>
            <a:pPr algn="l"/>
            <a:r>
              <a:rPr sz="900" b="0">
                <a:solidFill>
                  <a:srgbClr val="8AA39C"/>
                </a:solidFill>
                <a:latin typeface="Segoe UI"/>
              </a:rPr>
              <a:t>CartIQ  ·  Grocery Market Basket Intelligence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BF8"/>
        </a:solidFill>
        <a:effectLst/>
      </p:bgPr>
    </p:bg>
    <p:spTree>
      <p:nvGrpSpPr>
        <p:cNvPr id="1" name=""/>
        <p:cNvGrpSpPr/>
        <p:nvPr/>
      </p:nvGrpSpPr>
      <p:grpSpPr/>
      <p:sp>
        <p:nvSpPr>
          <p:cNvPr id="2" name="Rounded Rectangle 1"/>
          <p:cNvSpPr/>
          <p:nvPr/>
        </p:nvSpPr>
        <p:spPr>
          <a:xfrm>
            <a:off x="502920" y="384048"/>
            <a:ext cx="128016" cy="47548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8686800" cy="640080"/>
          </a:xfrm>
          <a:prstGeom prst="rect">
            <a:avLst/>
          </a:prstGeom>
          <a:noFill/>
        </p:spPr>
        <p:txBody>
          <a:bodyPr wrap="square" anchor="t">
            <a:spAutoFit/>
          </a:bodyPr>
          <a:lstStyle/>
          <a:p>
            <a:pPr algn="l"/>
            <a:r>
              <a:rPr sz="3000" b="1">
                <a:solidFill>
                  <a:srgbClr val="17332C"/>
                </a:solidFill>
                <a:latin typeface="Segoe UI"/>
              </a:rPr>
              <a:t>Clustering &amp; reducing dimensions</a:t>
            </a:r>
          </a:p>
        </p:txBody>
      </p:sp>
      <p:sp>
        <p:nvSpPr>
          <p:cNvPr id="4" name="TextBox 3"/>
          <p:cNvSpPr txBox="1"/>
          <p:nvPr/>
        </p:nvSpPr>
        <p:spPr>
          <a:xfrm>
            <a:off x="795528" y="841248"/>
            <a:ext cx="9144000" cy="365760"/>
          </a:xfrm>
          <a:prstGeom prst="rect">
            <a:avLst/>
          </a:prstGeom>
          <a:noFill/>
        </p:spPr>
        <p:txBody>
          <a:bodyPr wrap="square" anchor="t">
            <a:spAutoFit/>
          </a:bodyPr>
          <a:lstStyle/>
          <a:p>
            <a:pPr algn="l"/>
            <a:r>
              <a:rPr sz="1300" b="0">
                <a:solidFill>
                  <a:srgbClr val="5B7770"/>
                </a:solidFill>
                <a:latin typeface="Segoe UI"/>
              </a:rPr>
              <a:t>Grouping shoppers and compressing 14 features into visual maps</a:t>
            </a:r>
          </a:p>
        </p:txBody>
      </p:sp>
      <p:sp>
        <p:nvSpPr>
          <p:cNvPr id="5" name="TextBox 4"/>
          <p:cNvSpPr txBox="1"/>
          <p:nvPr/>
        </p:nvSpPr>
        <p:spPr>
          <a:xfrm>
            <a:off x="11064240" y="365760"/>
            <a:ext cx="822960" cy="365760"/>
          </a:xfrm>
          <a:prstGeom prst="rect">
            <a:avLst/>
          </a:prstGeom>
          <a:noFill/>
        </p:spPr>
        <p:txBody>
          <a:bodyPr wrap="square" anchor="t">
            <a:spAutoFit/>
          </a:bodyPr>
          <a:lstStyle/>
          <a:p>
            <a:pPr algn="r"/>
            <a:r>
              <a:rPr sz="1100" b="1">
                <a:solidFill>
                  <a:srgbClr val="8AA39C"/>
                </a:solidFill>
                <a:latin typeface="Segoe UI"/>
              </a:rPr>
              <a:t>05/10</a:t>
            </a:r>
          </a:p>
        </p:txBody>
      </p:sp>
      <p:sp>
        <p:nvSpPr>
          <p:cNvPr id="6" name="TextBox 5"/>
          <p:cNvSpPr txBox="1"/>
          <p:nvPr/>
        </p:nvSpPr>
        <p:spPr>
          <a:xfrm>
            <a:off x="777240" y="1554480"/>
            <a:ext cx="4206240" cy="2560320"/>
          </a:xfrm>
          <a:prstGeom prst="rect">
            <a:avLst/>
          </a:prstGeom>
          <a:noFill/>
        </p:spPr>
        <p:txBody>
          <a:bodyPr wrap="square">
            <a:spAutoFit/>
          </a:bodyPr>
          <a:lstStyle/>
          <a:p>
            <a:pPr>
              <a:spcAft>
                <a:spcPts val="1200"/>
              </a:spcAft>
            </a:pPr>
            <a:r>
              <a:t>•  K-Means: best K = 3, silhouette 0.32</a:t>
            </a:r>
          </a:p>
          <a:p>
            <a:pPr>
              <a:spcAft>
                <a:spcPts val="1200"/>
              </a:spcAft>
            </a:pPr>
            <a:r>
              <a:t>•  t-SNE: 14 features mapped to 2-D</a:t>
            </a:r>
          </a:p>
          <a:p>
            <a:pPr>
              <a:spcAft>
                <a:spcPts val="1200"/>
              </a:spcAft>
            </a:pPr>
            <a:r>
              <a:t>•  PCA: 13 components keep 95% variance</a:t>
            </a:r>
          </a:p>
          <a:p>
            <a:pPr>
              <a:spcAft>
                <a:spcPts val="1200"/>
              </a:spcAft>
            </a:pPr>
            <a:r>
              <a:t>•  DBSCAN: 7 clusters · 0% noise</a:t>
            </a:r>
          </a:p>
          <a:p>
            <a:pPr>
              <a:spcAft>
                <a:spcPts val="1200"/>
              </a:spcAft>
            </a:pPr>
            <a:r>
              <a:t>•  Hierarchical: divisive beats agglomerative</a:t>
            </a:r>
          </a:p>
        </p:txBody>
      </p:sp>
      <p:sp>
        <p:nvSpPr>
          <p:cNvPr id="7" name="Rounded Rectangle 6"/>
          <p:cNvSpPr/>
          <p:nvPr/>
        </p:nvSpPr>
        <p:spPr>
          <a:xfrm>
            <a:off x="5193792" y="1739907"/>
            <a:ext cx="3374136" cy="2098025"/>
          </a:xfrm>
          <a:prstGeom prst="roundRect">
            <a:avLst/>
          </a:prstGeom>
          <a:solidFill>
            <a:srgbClr val="FFFFFF"/>
          </a:solidFill>
          <a:ln w="12700">
            <a:solidFill>
              <a:srgbClr val="E2E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lbow_kmeans.png"/>
          <p:cNvPicPr>
            <a:picLocks noChangeAspect="1"/>
          </p:cNvPicPr>
          <p:nvPr/>
        </p:nvPicPr>
        <p:blipFill>
          <a:blip r:embed="rId2"/>
          <a:stretch>
            <a:fillRect/>
          </a:stretch>
        </p:blipFill>
        <p:spPr>
          <a:xfrm>
            <a:off x="5303520" y="1849635"/>
            <a:ext cx="3154680" cy="1878569"/>
          </a:xfrm>
          <a:prstGeom prst="rect">
            <a:avLst/>
          </a:prstGeom>
        </p:spPr>
      </p:pic>
      <p:sp>
        <p:nvSpPr>
          <p:cNvPr id="9" name="Rounded Rectangle 8"/>
          <p:cNvSpPr/>
          <p:nvPr/>
        </p:nvSpPr>
        <p:spPr>
          <a:xfrm>
            <a:off x="8439912" y="1579995"/>
            <a:ext cx="3374136" cy="2417850"/>
          </a:xfrm>
          <a:prstGeom prst="roundRect">
            <a:avLst/>
          </a:prstGeom>
          <a:solidFill>
            <a:srgbClr val="FFFFFF"/>
          </a:solidFill>
          <a:ln w="12700">
            <a:solidFill>
              <a:srgbClr val="E2E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tsne_scatter_plot.png"/>
          <p:cNvPicPr>
            <a:picLocks noChangeAspect="1"/>
          </p:cNvPicPr>
          <p:nvPr/>
        </p:nvPicPr>
        <p:blipFill>
          <a:blip r:embed="rId3"/>
          <a:stretch>
            <a:fillRect/>
          </a:stretch>
        </p:blipFill>
        <p:spPr>
          <a:xfrm>
            <a:off x="8549640" y="1689723"/>
            <a:ext cx="3154680" cy="2198394"/>
          </a:xfrm>
          <a:prstGeom prst="rect">
            <a:avLst/>
          </a:prstGeom>
        </p:spPr>
      </p:pic>
      <p:sp>
        <p:nvSpPr>
          <p:cNvPr id="11" name="Rounded Rectangle 10"/>
          <p:cNvSpPr/>
          <p:nvPr/>
        </p:nvSpPr>
        <p:spPr>
          <a:xfrm>
            <a:off x="5303520" y="4434840"/>
            <a:ext cx="6400800" cy="1417320"/>
          </a:xfrm>
          <a:prstGeom prst="roundRect">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77840" y="4572000"/>
            <a:ext cx="5852160" cy="365760"/>
          </a:xfrm>
          <a:prstGeom prst="rect">
            <a:avLst/>
          </a:prstGeom>
          <a:noFill/>
        </p:spPr>
        <p:txBody>
          <a:bodyPr wrap="square" anchor="t">
            <a:spAutoFit/>
          </a:bodyPr>
          <a:lstStyle/>
          <a:p>
            <a:pPr algn="l"/>
            <a:r>
              <a:rPr sz="1400" b="1">
                <a:solidFill>
                  <a:srgbClr val="17332C"/>
                </a:solidFill>
                <a:latin typeface="Segoe UI"/>
              </a:rPr>
              <a:t>Information is spread, not concentrated</a:t>
            </a:r>
          </a:p>
        </p:txBody>
      </p:sp>
      <p:sp>
        <p:nvSpPr>
          <p:cNvPr id="13" name="TextBox 12"/>
          <p:cNvSpPr txBox="1"/>
          <p:nvPr/>
        </p:nvSpPr>
        <p:spPr>
          <a:xfrm>
            <a:off x="5577840" y="4956048"/>
            <a:ext cx="5852160" cy="777240"/>
          </a:xfrm>
          <a:prstGeom prst="rect">
            <a:avLst/>
          </a:prstGeom>
          <a:noFill/>
        </p:spPr>
        <p:txBody>
          <a:bodyPr wrap="square" anchor="t">
            <a:spAutoFit/>
          </a:bodyPr>
          <a:lstStyle/>
          <a:p>
            <a:pPr algn="l"/>
            <a:r>
              <a:rPr sz="1200" b="0">
                <a:solidFill>
                  <a:srgbClr val="5B7770"/>
                </a:solidFill>
                <a:latin typeface="Segoe UI"/>
              </a:rPr>
              <a:t>PCA needs 13 of 14 components for 95% variance — reorders depend on many weak signals combined, not one strong feature.</a:t>
            </a:r>
          </a:p>
        </p:txBody>
      </p:sp>
      <p:sp>
        <p:nvSpPr>
          <p:cNvPr id="14" name="TextBox 13"/>
          <p:cNvSpPr txBox="1"/>
          <p:nvPr/>
        </p:nvSpPr>
        <p:spPr>
          <a:xfrm>
            <a:off x="502920" y="6446520"/>
            <a:ext cx="5486400" cy="274320"/>
          </a:xfrm>
          <a:prstGeom prst="rect">
            <a:avLst/>
          </a:prstGeom>
          <a:noFill/>
        </p:spPr>
        <p:txBody>
          <a:bodyPr wrap="square" anchor="t">
            <a:spAutoFit/>
          </a:bodyPr>
          <a:lstStyle/>
          <a:p>
            <a:pPr algn="l"/>
            <a:r>
              <a:rPr sz="900" b="0">
                <a:solidFill>
                  <a:srgbClr val="8AA39C"/>
                </a:solidFill>
                <a:latin typeface="Segoe UI"/>
              </a:rPr>
              <a:t>CartIQ  ·  Grocery Market Basket Intelligence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BF8"/>
        </a:solidFill>
        <a:effectLst/>
      </p:bgPr>
    </p:bg>
    <p:spTree>
      <p:nvGrpSpPr>
        <p:cNvPr id="1" name=""/>
        <p:cNvGrpSpPr/>
        <p:nvPr/>
      </p:nvGrpSpPr>
      <p:grpSpPr/>
      <p:sp>
        <p:nvSpPr>
          <p:cNvPr id="2" name="Rounded Rectangle 1"/>
          <p:cNvSpPr/>
          <p:nvPr/>
        </p:nvSpPr>
        <p:spPr>
          <a:xfrm>
            <a:off x="502920" y="384048"/>
            <a:ext cx="128016" cy="47548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8686800" cy="640080"/>
          </a:xfrm>
          <a:prstGeom prst="rect">
            <a:avLst/>
          </a:prstGeom>
          <a:noFill/>
        </p:spPr>
        <p:txBody>
          <a:bodyPr wrap="square" anchor="t">
            <a:spAutoFit/>
          </a:bodyPr>
          <a:lstStyle/>
          <a:p>
            <a:pPr algn="l"/>
            <a:r>
              <a:rPr sz="3000" b="1">
                <a:solidFill>
                  <a:srgbClr val="17332C"/>
                </a:solidFill>
                <a:latin typeface="Segoe UI"/>
              </a:rPr>
              <a:t>Validating the results</a:t>
            </a:r>
          </a:p>
        </p:txBody>
      </p:sp>
      <p:sp>
        <p:nvSpPr>
          <p:cNvPr id="4" name="TextBox 3"/>
          <p:cNvSpPr txBox="1"/>
          <p:nvPr/>
        </p:nvSpPr>
        <p:spPr>
          <a:xfrm>
            <a:off x="795528" y="841248"/>
            <a:ext cx="9144000" cy="365760"/>
          </a:xfrm>
          <a:prstGeom prst="rect">
            <a:avLst/>
          </a:prstGeom>
          <a:noFill/>
        </p:spPr>
        <p:txBody>
          <a:bodyPr wrap="square" anchor="t">
            <a:spAutoFit/>
          </a:bodyPr>
          <a:lstStyle/>
          <a:p>
            <a:pPr algn="l"/>
            <a:r>
              <a:rPr sz="1300" b="0">
                <a:solidFill>
                  <a:srgbClr val="5B7770"/>
                </a:solidFill>
                <a:latin typeface="Segoe UI"/>
              </a:rPr>
              <a:t>5-fold stratified cross-validation — numbers you can trust</a:t>
            </a:r>
          </a:p>
        </p:txBody>
      </p:sp>
      <p:sp>
        <p:nvSpPr>
          <p:cNvPr id="5" name="TextBox 4"/>
          <p:cNvSpPr txBox="1"/>
          <p:nvPr/>
        </p:nvSpPr>
        <p:spPr>
          <a:xfrm>
            <a:off x="11064240" y="365760"/>
            <a:ext cx="822960" cy="365760"/>
          </a:xfrm>
          <a:prstGeom prst="rect">
            <a:avLst/>
          </a:prstGeom>
          <a:noFill/>
        </p:spPr>
        <p:txBody>
          <a:bodyPr wrap="square" anchor="t">
            <a:spAutoFit/>
          </a:bodyPr>
          <a:lstStyle/>
          <a:p>
            <a:pPr algn="r"/>
            <a:r>
              <a:rPr sz="1100" b="1">
                <a:solidFill>
                  <a:srgbClr val="8AA39C"/>
                </a:solidFill>
                <a:latin typeface="Segoe UI"/>
              </a:rPr>
              <a:t>06/10</a:t>
            </a:r>
          </a:p>
        </p:txBody>
      </p:sp>
      <p:sp>
        <p:nvSpPr>
          <p:cNvPr id="6" name="TextBox 5"/>
          <p:cNvSpPr txBox="1"/>
          <p:nvPr/>
        </p:nvSpPr>
        <p:spPr>
          <a:xfrm>
            <a:off x="777240" y="1554480"/>
            <a:ext cx="4206240" cy="2377440"/>
          </a:xfrm>
          <a:prstGeom prst="rect">
            <a:avLst/>
          </a:prstGeom>
          <a:noFill/>
        </p:spPr>
        <p:txBody>
          <a:bodyPr wrap="square">
            <a:spAutoFit/>
          </a:bodyPr>
          <a:lstStyle/>
          <a:p>
            <a:pPr>
              <a:spcAft>
                <a:spcPts val="1400"/>
              </a:spcAft>
            </a:pPr>
            <a:r>
              <a:t>•  5-fold stratified cross-validation</a:t>
            </a:r>
          </a:p>
          <a:p>
            <a:pPr>
              <a:spcAft>
                <a:spcPts val="1400"/>
              </a:spcAft>
            </a:pPr>
            <a:r>
              <a:t>•  Out-of-fold F1: 69.1%</a:t>
            </a:r>
          </a:p>
          <a:p>
            <a:pPr>
              <a:spcAft>
                <a:spcPts val="1400"/>
              </a:spcAft>
            </a:pPr>
            <a:r>
              <a:t>•  ROC-AUC 0.681  ·  PR-AUC 0.700</a:t>
            </a:r>
          </a:p>
          <a:p>
            <a:pPr>
              <a:spcAft>
                <a:spcPts val="1400"/>
              </a:spcAft>
            </a:pPr>
            <a:r>
              <a:t>•  Stable — outlier impact only 0.014</a:t>
            </a:r>
          </a:p>
        </p:txBody>
      </p:sp>
      <p:sp>
        <p:nvSpPr>
          <p:cNvPr id="7" name="Rounded Rectangle 6"/>
          <p:cNvSpPr/>
          <p:nvPr/>
        </p:nvSpPr>
        <p:spPr>
          <a:xfrm>
            <a:off x="777240" y="4206240"/>
            <a:ext cx="4206240" cy="1645920"/>
          </a:xfrm>
          <a:prstGeom prst="roundRect">
            <a:avLst/>
          </a:prstGeom>
          <a:solidFill>
            <a:srgbClr val="DC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4370832"/>
            <a:ext cx="3749039" cy="365760"/>
          </a:xfrm>
          <a:prstGeom prst="rect">
            <a:avLst/>
          </a:prstGeom>
          <a:noFill/>
        </p:spPr>
        <p:txBody>
          <a:bodyPr wrap="square" anchor="t">
            <a:spAutoFit/>
          </a:bodyPr>
          <a:lstStyle/>
          <a:p>
            <a:pPr algn="l"/>
            <a:r>
              <a:rPr sz="1400" b="1">
                <a:solidFill>
                  <a:srgbClr val="0D9488"/>
                </a:solidFill>
                <a:latin typeface="Segoe UI"/>
              </a:rPr>
              <a:t>Why cross-validation?</a:t>
            </a:r>
          </a:p>
        </p:txBody>
      </p:sp>
      <p:sp>
        <p:nvSpPr>
          <p:cNvPr id="9" name="TextBox 8"/>
          <p:cNvSpPr txBox="1"/>
          <p:nvPr/>
        </p:nvSpPr>
        <p:spPr>
          <a:xfrm>
            <a:off x="1005840" y="4754880"/>
            <a:ext cx="3749039" cy="914400"/>
          </a:xfrm>
          <a:prstGeom prst="rect">
            <a:avLst/>
          </a:prstGeom>
          <a:noFill/>
        </p:spPr>
        <p:txBody>
          <a:bodyPr wrap="square" anchor="t">
            <a:spAutoFit/>
          </a:bodyPr>
          <a:lstStyle/>
          <a:p>
            <a:pPr algn="l"/>
            <a:r>
              <a:rPr sz="1200" b="0">
                <a:solidFill>
                  <a:srgbClr val="5B7770"/>
                </a:solidFill>
                <a:latin typeface="Segoe UI"/>
              </a:rPr>
              <a:t>One train-test split can be lucky or unlucky. Five folds average out the noise so the reported score is reliable.</a:t>
            </a:r>
          </a:p>
        </p:txBody>
      </p:sp>
      <p:sp>
        <p:nvSpPr>
          <p:cNvPr id="10" name="Rounded Rectangle 9"/>
          <p:cNvSpPr/>
          <p:nvPr/>
        </p:nvSpPr>
        <p:spPr>
          <a:xfrm>
            <a:off x="5285232" y="1513332"/>
            <a:ext cx="3328416" cy="2551176"/>
          </a:xfrm>
          <a:prstGeom prst="roundRect">
            <a:avLst/>
          </a:prstGeom>
          <a:solidFill>
            <a:srgbClr val="FFFFFF"/>
          </a:solidFill>
          <a:ln w="12700">
            <a:solidFill>
              <a:srgbClr val="E2E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OC_AUC_Curve.png"/>
          <p:cNvPicPr>
            <a:picLocks noChangeAspect="1"/>
          </p:cNvPicPr>
          <p:nvPr/>
        </p:nvPicPr>
        <p:blipFill>
          <a:blip r:embed="rId2"/>
          <a:stretch>
            <a:fillRect/>
          </a:stretch>
        </p:blipFill>
        <p:spPr>
          <a:xfrm>
            <a:off x="5394960" y="1623060"/>
            <a:ext cx="3108960" cy="2331720"/>
          </a:xfrm>
          <a:prstGeom prst="rect">
            <a:avLst/>
          </a:prstGeom>
        </p:spPr>
      </p:pic>
      <p:sp>
        <p:nvSpPr>
          <p:cNvPr id="12" name="Rounded Rectangle 11"/>
          <p:cNvSpPr/>
          <p:nvPr/>
        </p:nvSpPr>
        <p:spPr>
          <a:xfrm>
            <a:off x="8485632" y="1513332"/>
            <a:ext cx="3328416" cy="2551176"/>
          </a:xfrm>
          <a:prstGeom prst="roundRect">
            <a:avLst/>
          </a:prstGeom>
          <a:solidFill>
            <a:srgbClr val="FFFFFF"/>
          </a:solidFill>
          <a:ln w="12700">
            <a:solidFill>
              <a:srgbClr val="E2E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R_AUC_Curve.png"/>
          <p:cNvPicPr>
            <a:picLocks noChangeAspect="1"/>
          </p:cNvPicPr>
          <p:nvPr/>
        </p:nvPicPr>
        <p:blipFill>
          <a:blip r:embed="rId3"/>
          <a:stretch>
            <a:fillRect/>
          </a:stretch>
        </p:blipFill>
        <p:spPr>
          <a:xfrm>
            <a:off x="8595360" y="1623060"/>
            <a:ext cx="3108960" cy="2331720"/>
          </a:xfrm>
          <a:prstGeom prst="rect">
            <a:avLst/>
          </a:prstGeom>
        </p:spPr>
      </p:pic>
      <p:sp>
        <p:nvSpPr>
          <p:cNvPr id="14" name="TextBox 13"/>
          <p:cNvSpPr txBox="1"/>
          <p:nvPr/>
        </p:nvSpPr>
        <p:spPr>
          <a:xfrm>
            <a:off x="5394960" y="4389120"/>
            <a:ext cx="6309360" cy="1280160"/>
          </a:xfrm>
          <a:prstGeom prst="rect">
            <a:avLst/>
          </a:prstGeom>
          <a:noFill/>
        </p:spPr>
        <p:txBody>
          <a:bodyPr wrap="square" anchor="t">
            <a:spAutoFit/>
          </a:bodyPr>
          <a:lstStyle/>
          <a:p>
            <a:pPr algn="l"/>
            <a:r>
              <a:rPr sz="1300" b="0">
                <a:solidFill>
                  <a:srgbClr val="5B7770"/>
                </a:solidFill>
                <a:latin typeface="Segoe UI"/>
              </a:rPr>
              <a:t>The ROC and Precision-Recall curves show the model keeps useful discriminative power across thresholds — not just at one cutoff.</a:t>
            </a:r>
          </a:p>
        </p:txBody>
      </p:sp>
      <p:sp>
        <p:nvSpPr>
          <p:cNvPr id="15" name="TextBox 14"/>
          <p:cNvSpPr txBox="1"/>
          <p:nvPr/>
        </p:nvSpPr>
        <p:spPr>
          <a:xfrm>
            <a:off x="502920" y="6446520"/>
            <a:ext cx="5486400" cy="274320"/>
          </a:xfrm>
          <a:prstGeom prst="rect">
            <a:avLst/>
          </a:prstGeom>
          <a:noFill/>
        </p:spPr>
        <p:txBody>
          <a:bodyPr wrap="square" anchor="t">
            <a:spAutoFit/>
          </a:bodyPr>
          <a:lstStyle/>
          <a:p>
            <a:pPr algn="l"/>
            <a:r>
              <a:rPr sz="900" b="0">
                <a:solidFill>
                  <a:srgbClr val="8AA39C"/>
                </a:solidFill>
                <a:latin typeface="Segoe UI"/>
              </a:rPr>
              <a:t>CartIQ  ·  Grocery Market Basket Intelligence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BF8"/>
        </a:solidFill>
        <a:effectLst/>
      </p:bgPr>
    </p:bg>
    <p:spTree>
      <p:nvGrpSpPr>
        <p:cNvPr id="1" name=""/>
        <p:cNvGrpSpPr/>
        <p:nvPr/>
      </p:nvGrpSpPr>
      <p:grpSpPr/>
      <p:sp>
        <p:nvSpPr>
          <p:cNvPr id="2" name="Rounded Rectangle 1"/>
          <p:cNvSpPr/>
          <p:nvPr/>
        </p:nvSpPr>
        <p:spPr>
          <a:xfrm>
            <a:off x="502920" y="384048"/>
            <a:ext cx="128016" cy="47548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8686800" cy="640080"/>
          </a:xfrm>
          <a:prstGeom prst="rect">
            <a:avLst/>
          </a:prstGeom>
          <a:noFill/>
        </p:spPr>
        <p:txBody>
          <a:bodyPr wrap="square" anchor="t">
            <a:spAutoFit/>
          </a:bodyPr>
          <a:lstStyle/>
          <a:p>
            <a:pPr algn="l"/>
            <a:r>
              <a:rPr sz="3000" b="1">
                <a:solidFill>
                  <a:srgbClr val="17332C"/>
                </a:solidFill>
                <a:latin typeface="Segoe UI"/>
              </a:rPr>
              <a:t>A working web application</a:t>
            </a:r>
          </a:p>
        </p:txBody>
      </p:sp>
      <p:sp>
        <p:nvSpPr>
          <p:cNvPr id="4" name="TextBox 3"/>
          <p:cNvSpPr txBox="1"/>
          <p:nvPr/>
        </p:nvSpPr>
        <p:spPr>
          <a:xfrm>
            <a:off x="795528" y="841248"/>
            <a:ext cx="9144000" cy="365760"/>
          </a:xfrm>
          <a:prstGeom prst="rect">
            <a:avLst/>
          </a:prstGeom>
          <a:noFill/>
        </p:spPr>
        <p:txBody>
          <a:bodyPr wrap="square" anchor="t">
            <a:spAutoFit/>
          </a:bodyPr>
          <a:lstStyle/>
          <a:p>
            <a:pPr algn="l"/>
            <a:r>
              <a:rPr sz="1300" b="0">
                <a:solidFill>
                  <a:srgbClr val="5B7770"/>
                </a:solidFill>
                <a:latin typeface="Segoe UI"/>
              </a:rPr>
              <a:t>Flask · 10 pages · live charts served from the outputs folder</a:t>
            </a:r>
          </a:p>
        </p:txBody>
      </p:sp>
      <p:sp>
        <p:nvSpPr>
          <p:cNvPr id="5" name="TextBox 4"/>
          <p:cNvSpPr txBox="1"/>
          <p:nvPr/>
        </p:nvSpPr>
        <p:spPr>
          <a:xfrm>
            <a:off x="11064240" y="365760"/>
            <a:ext cx="822960" cy="365760"/>
          </a:xfrm>
          <a:prstGeom prst="rect">
            <a:avLst/>
          </a:prstGeom>
          <a:noFill/>
        </p:spPr>
        <p:txBody>
          <a:bodyPr wrap="square" anchor="t">
            <a:spAutoFit/>
          </a:bodyPr>
          <a:lstStyle/>
          <a:p>
            <a:pPr algn="r"/>
            <a:r>
              <a:rPr sz="1100" b="1">
                <a:solidFill>
                  <a:srgbClr val="8AA39C"/>
                </a:solidFill>
                <a:latin typeface="Segoe UI"/>
              </a:rPr>
              <a:t>07/10</a:t>
            </a:r>
          </a:p>
        </p:txBody>
      </p:sp>
      <p:sp>
        <p:nvSpPr>
          <p:cNvPr id="6" name="TextBox 5"/>
          <p:cNvSpPr txBox="1"/>
          <p:nvPr/>
        </p:nvSpPr>
        <p:spPr>
          <a:xfrm>
            <a:off x="777240" y="1600200"/>
            <a:ext cx="4023360" cy="2377440"/>
          </a:xfrm>
          <a:prstGeom prst="rect">
            <a:avLst/>
          </a:prstGeom>
          <a:noFill/>
        </p:spPr>
        <p:txBody>
          <a:bodyPr wrap="square">
            <a:spAutoFit/>
          </a:bodyPr>
          <a:lstStyle/>
          <a:p>
            <a:pPr>
              <a:spcAft>
                <a:spcPts val="1400"/>
              </a:spcAft>
            </a:pPr>
            <a:r>
              <a:t>•  Flask website with 10 pages</a:t>
            </a:r>
          </a:p>
          <a:p>
            <a:pPr>
              <a:spcAft>
                <a:spcPts val="1400"/>
              </a:spcAft>
            </a:pPr>
            <a:r>
              <a:t>•  Live charts from outputs folder</a:t>
            </a:r>
          </a:p>
          <a:p>
            <a:pPr>
              <a:spcAft>
                <a:spcPts val="1400"/>
              </a:spcAft>
            </a:pPr>
            <a:r>
              <a:t>•  Auto-generated reports per module</a:t>
            </a:r>
          </a:p>
          <a:p>
            <a:pPr>
              <a:spcAft>
                <a:spcPts val="1400"/>
              </a:spcAft>
            </a:pPr>
            <a:r>
              <a:t>•  Light, modern interface</a:t>
            </a:r>
          </a:p>
        </p:txBody>
      </p:sp>
      <p:sp>
        <p:nvSpPr>
          <p:cNvPr id="7" name="Rounded Rectangle 6"/>
          <p:cNvSpPr/>
          <p:nvPr/>
        </p:nvSpPr>
        <p:spPr>
          <a:xfrm>
            <a:off x="777240" y="4160520"/>
            <a:ext cx="4023360" cy="1737360"/>
          </a:xfrm>
          <a:prstGeom prst="roundRect">
            <a:avLst/>
          </a:prstGeom>
          <a:solidFill>
            <a:srgbClr val="DF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4315968"/>
            <a:ext cx="3566160" cy="365760"/>
          </a:xfrm>
          <a:prstGeom prst="rect">
            <a:avLst/>
          </a:prstGeom>
          <a:noFill/>
        </p:spPr>
        <p:txBody>
          <a:bodyPr wrap="square" anchor="t">
            <a:spAutoFit/>
          </a:bodyPr>
          <a:lstStyle/>
          <a:p>
            <a:pPr algn="l"/>
            <a:r>
              <a:rPr sz="1300" b="1">
                <a:solidFill>
                  <a:srgbClr val="17332C"/>
                </a:solidFill>
                <a:latin typeface="Segoe UI"/>
              </a:rPr>
              <a:t>Pages included</a:t>
            </a:r>
          </a:p>
        </p:txBody>
      </p:sp>
      <p:sp>
        <p:nvSpPr>
          <p:cNvPr id="9" name="TextBox 8"/>
          <p:cNvSpPr txBox="1"/>
          <p:nvPr/>
        </p:nvSpPr>
        <p:spPr>
          <a:xfrm>
            <a:off x="1005840" y="4681728"/>
            <a:ext cx="3566160" cy="1097280"/>
          </a:xfrm>
          <a:prstGeom prst="rect">
            <a:avLst/>
          </a:prstGeom>
          <a:noFill/>
        </p:spPr>
        <p:txBody>
          <a:bodyPr wrap="square" anchor="t">
            <a:spAutoFit/>
          </a:bodyPr>
          <a:lstStyle/>
          <a:p>
            <a:pPr algn="l"/>
            <a:r>
              <a:rPr sz="1100" b="0">
                <a:solidFill>
                  <a:srgbClr val="5B7770"/>
                </a:solidFill>
                <a:latin typeface="Segoe UI"/>
              </a:rPr>
              <a:t>Home · About · Dataset · Preprocessing · Visualization · Models · Prediction · Dashboard · Reports · Contact</a:t>
            </a:r>
          </a:p>
        </p:txBody>
      </p:sp>
      <p:sp>
        <p:nvSpPr>
          <p:cNvPr id="10" name="Rounded Rectangle 9"/>
          <p:cNvSpPr/>
          <p:nvPr/>
        </p:nvSpPr>
        <p:spPr>
          <a:xfrm>
            <a:off x="5102352" y="1320655"/>
            <a:ext cx="6711696" cy="4856770"/>
          </a:xfrm>
          <a:prstGeom prst="roundRect">
            <a:avLst/>
          </a:prstGeom>
          <a:solidFill>
            <a:srgbClr val="FFFFFF"/>
          </a:solidFill>
          <a:ln w="12700">
            <a:solidFill>
              <a:srgbClr val="E2E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home.png"/>
          <p:cNvPicPr>
            <a:picLocks noChangeAspect="1"/>
          </p:cNvPicPr>
          <p:nvPr/>
        </p:nvPicPr>
        <p:blipFill>
          <a:blip r:embed="rId2"/>
          <a:stretch>
            <a:fillRect/>
          </a:stretch>
        </p:blipFill>
        <p:spPr>
          <a:xfrm>
            <a:off x="5212080" y="1430383"/>
            <a:ext cx="6492240" cy="4637314"/>
          </a:xfrm>
          <a:prstGeom prst="rect">
            <a:avLst/>
          </a:prstGeom>
        </p:spPr>
      </p:pic>
      <p:sp>
        <p:nvSpPr>
          <p:cNvPr id="12" name="TextBox 11"/>
          <p:cNvSpPr txBox="1"/>
          <p:nvPr/>
        </p:nvSpPr>
        <p:spPr>
          <a:xfrm>
            <a:off x="502920" y="6446520"/>
            <a:ext cx="5486400" cy="274320"/>
          </a:xfrm>
          <a:prstGeom prst="rect">
            <a:avLst/>
          </a:prstGeom>
          <a:noFill/>
        </p:spPr>
        <p:txBody>
          <a:bodyPr wrap="square" anchor="t">
            <a:spAutoFit/>
          </a:bodyPr>
          <a:lstStyle/>
          <a:p>
            <a:pPr algn="l"/>
            <a:r>
              <a:rPr sz="900" b="0">
                <a:solidFill>
                  <a:srgbClr val="8AA39C"/>
                </a:solidFill>
                <a:latin typeface="Segoe UI"/>
              </a:rPr>
              <a:t>CartIQ  ·  Grocery Market Basket Intelligence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BF8"/>
        </a:solidFill>
        <a:effectLst/>
      </p:bgPr>
    </p:bg>
    <p:spTree>
      <p:nvGrpSpPr>
        <p:cNvPr id="1" name=""/>
        <p:cNvGrpSpPr/>
        <p:nvPr/>
      </p:nvGrpSpPr>
      <p:grpSpPr/>
      <p:sp>
        <p:nvSpPr>
          <p:cNvPr id="2" name="Rounded Rectangle 1"/>
          <p:cNvSpPr/>
          <p:nvPr/>
        </p:nvSpPr>
        <p:spPr>
          <a:xfrm>
            <a:off x="502920" y="384048"/>
            <a:ext cx="128016" cy="47548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8686800" cy="640080"/>
          </a:xfrm>
          <a:prstGeom prst="rect">
            <a:avLst/>
          </a:prstGeom>
          <a:noFill/>
        </p:spPr>
        <p:txBody>
          <a:bodyPr wrap="square" anchor="t">
            <a:spAutoFit/>
          </a:bodyPr>
          <a:lstStyle/>
          <a:p>
            <a:pPr algn="l"/>
            <a:r>
              <a:rPr sz="3000" b="1">
                <a:solidFill>
                  <a:srgbClr val="17332C"/>
                </a:solidFill>
                <a:latin typeface="Segoe UI"/>
              </a:rPr>
              <a:t>Predict a reorder in real time</a:t>
            </a:r>
          </a:p>
        </p:txBody>
      </p:sp>
      <p:sp>
        <p:nvSpPr>
          <p:cNvPr id="4" name="TextBox 3"/>
          <p:cNvSpPr txBox="1"/>
          <p:nvPr/>
        </p:nvSpPr>
        <p:spPr>
          <a:xfrm>
            <a:off x="795528" y="841248"/>
            <a:ext cx="9144000" cy="365760"/>
          </a:xfrm>
          <a:prstGeom prst="rect">
            <a:avLst/>
          </a:prstGeom>
          <a:noFill/>
        </p:spPr>
        <p:txBody>
          <a:bodyPr wrap="square" anchor="t">
            <a:spAutoFit/>
          </a:bodyPr>
          <a:lstStyle/>
          <a:p>
            <a:pPr algn="l"/>
            <a:r>
              <a:rPr sz="1300" b="0">
                <a:solidFill>
                  <a:srgbClr val="5B7770"/>
                </a:solidFill>
                <a:latin typeface="Segoe UI"/>
              </a:rPr>
              <a:t>The form loads the actual trained pipeline and answers instantly</a:t>
            </a:r>
          </a:p>
        </p:txBody>
      </p:sp>
      <p:sp>
        <p:nvSpPr>
          <p:cNvPr id="5" name="TextBox 4"/>
          <p:cNvSpPr txBox="1"/>
          <p:nvPr/>
        </p:nvSpPr>
        <p:spPr>
          <a:xfrm>
            <a:off x="11064240" y="365760"/>
            <a:ext cx="822960" cy="365760"/>
          </a:xfrm>
          <a:prstGeom prst="rect">
            <a:avLst/>
          </a:prstGeom>
          <a:noFill/>
        </p:spPr>
        <p:txBody>
          <a:bodyPr wrap="square" anchor="t">
            <a:spAutoFit/>
          </a:bodyPr>
          <a:lstStyle/>
          <a:p>
            <a:pPr algn="r"/>
            <a:r>
              <a:rPr sz="1100" b="1">
                <a:solidFill>
                  <a:srgbClr val="8AA39C"/>
                </a:solidFill>
                <a:latin typeface="Segoe UI"/>
              </a:rPr>
              <a:t>08/10</a:t>
            </a:r>
          </a:p>
        </p:txBody>
      </p:sp>
      <p:sp>
        <p:nvSpPr>
          <p:cNvPr id="6" name="TextBox 5"/>
          <p:cNvSpPr txBox="1"/>
          <p:nvPr/>
        </p:nvSpPr>
        <p:spPr>
          <a:xfrm>
            <a:off x="777240" y="1600200"/>
            <a:ext cx="3840480" cy="2194560"/>
          </a:xfrm>
          <a:prstGeom prst="rect">
            <a:avLst/>
          </a:prstGeom>
          <a:noFill/>
        </p:spPr>
        <p:txBody>
          <a:bodyPr wrap="square">
            <a:spAutoFit/>
          </a:bodyPr>
          <a:lstStyle/>
          <a:p>
            <a:pPr>
              <a:spcAft>
                <a:spcPts val="1300"/>
              </a:spcAft>
            </a:pPr>
            <a:r>
              <a:t>•  Choose model: RF, AdaBoost or Tree</a:t>
            </a:r>
          </a:p>
          <a:p>
            <a:pPr>
              <a:spcAft>
                <a:spcPts val="1300"/>
              </a:spcAft>
            </a:pPr>
            <a:r>
              <a:t>•  Enter 9 order features</a:t>
            </a:r>
          </a:p>
          <a:p>
            <a:pPr>
              <a:spcAft>
                <a:spcPts val="1300"/>
              </a:spcAft>
            </a:pPr>
            <a:r>
              <a:t>•  Get prediction + probability</a:t>
            </a:r>
          </a:p>
          <a:p>
            <a:pPr>
              <a:spcAft>
                <a:spcPts val="1300"/>
              </a:spcAft>
            </a:pPr>
            <a:r>
              <a:t>•  Runs the real trained pipeline</a:t>
            </a:r>
          </a:p>
        </p:txBody>
      </p:sp>
      <p:sp>
        <p:nvSpPr>
          <p:cNvPr id="7" name="Rounded Rectangle 6"/>
          <p:cNvSpPr/>
          <p:nvPr/>
        </p:nvSpPr>
        <p:spPr>
          <a:xfrm>
            <a:off x="777240" y="3977639"/>
            <a:ext cx="3840480" cy="1920240"/>
          </a:xfrm>
          <a:prstGeom prst="roundRect">
            <a:avLst/>
          </a:prstGeom>
          <a:solidFill>
            <a:srgbClr val="FF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4133087"/>
            <a:ext cx="3383280" cy="365760"/>
          </a:xfrm>
          <a:prstGeom prst="rect">
            <a:avLst/>
          </a:prstGeom>
          <a:noFill/>
        </p:spPr>
        <p:txBody>
          <a:bodyPr wrap="square" anchor="t">
            <a:spAutoFit/>
          </a:bodyPr>
          <a:lstStyle/>
          <a:p>
            <a:pPr algn="l"/>
            <a:r>
              <a:rPr sz="1400" b="1">
                <a:solidFill>
                  <a:srgbClr val="17332C"/>
                </a:solidFill>
                <a:latin typeface="Segoe UI"/>
              </a:rPr>
              <a:t>🔴  Live demo now</a:t>
            </a:r>
          </a:p>
        </p:txBody>
      </p:sp>
      <p:sp>
        <p:nvSpPr>
          <p:cNvPr id="9" name="TextBox 8"/>
          <p:cNvSpPr txBox="1"/>
          <p:nvPr/>
        </p:nvSpPr>
        <p:spPr>
          <a:xfrm>
            <a:off x="1005840" y="4526280"/>
            <a:ext cx="3383280" cy="1188720"/>
          </a:xfrm>
          <a:prstGeom prst="rect">
            <a:avLst/>
          </a:prstGeom>
          <a:noFill/>
        </p:spPr>
        <p:txBody>
          <a:bodyPr wrap="square" anchor="t">
            <a:spAutoFit/>
          </a:bodyPr>
          <a:lstStyle/>
          <a:p>
            <a:pPr algn="l"/>
            <a:r>
              <a:rPr sz="1200" b="0">
                <a:solidFill>
                  <a:srgbClr val="5B7770"/>
                </a:solidFill>
                <a:latin typeface="Segoe UI"/>
              </a:rPr>
              <a:t>I'll open the website and run a real prediction in front of you — Random Forest, fresh fruits, produce department.</a:t>
            </a:r>
          </a:p>
        </p:txBody>
      </p:sp>
      <p:sp>
        <p:nvSpPr>
          <p:cNvPr id="10" name="Rounded Rectangle 9"/>
          <p:cNvSpPr/>
          <p:nvPr/>
        </p:nvSpPr>
        <p:spPr>
          <a:xfrm>
            <a:off x="4919472" y="1255341"/>
            <a:ext cx="6894576" cy="4987398"/>
          </a:xfrm>
          <a:prstGeom prst="roundRect">
            <a:avLst/>
          </a:prstGeom>
          <a:solidFill>
            <a:srgbClr val="FFFFFF"/>
          </a:solidFill>
          <a:ln w="12700">
            <a:solidFill>
              <a:srgbClr val="E2E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rediction.png"/>
          <p:cNvPicPr>
            <a:picLocks noChangeAspect="1"/>
          </p:cNvPicPr>
          <p:nvPr/>
        </p:nvPicPr>
        <p:blipFill>
          <a:blip r:embed="rId2"/>
          <a:stretch>
            <a:fillRect/>
          </a:stretch>
        </p:blipFill>
        <p:spPr>
          <a:xfrm>
            <a:off x="5029200" y="1365069"/>
            <a:ext cx="6675120" cy="4767942"/>
          </a:xfrm>
          <a:prstGeom prst="rect">
            <a:avLst/>
          </a:prstGeom>
        </p:spPr>
      </p:pic>
      <p:sp>
        <p:nvSpPr>
          <p:cNvPr id="12" name="TextBox 11"/>
          <p:cNvSpPr txBox="1"/>
          <p:nvPr/>
        </p:nvSpPr>
        <p:spPr>
          <a:xfrm>
            <a:off x="502920" y="6446520"/>
            <a:ext cx="5486400" cy="274320"/>
          </a:xfrm>
          <a:prstGeom prst="rect">
            <a:avLst/>
          </a:prstGeom>
          <a:noFill/>
        </p:spPr>
        <p:txBody>
          <a:bodyPr wrap="square" anchor="t">
            <a:spAutoFit/>
          </a:bodyPr>
          <a:lstStyle/>
          <a:p>
            <a:pPr algn="l"/>
            <a:r>
              <a:rPr sz="900" b="0">
                <a:solidFill>
                  <a:srgbClr val="8AA39C"/>
                </a:solidFill>
                <a:latin typeface="Segoe UI"/>
              </a:rPr>
              <a:t>CartIQ  ·  Grocery Market Basket Intelligence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BF8"/>
        </a:solidFill>
        <a:effectLst/>
      </p:bgPr>
    </p:bg>
    <p:spTree>
      <p:nvGrpSpPr>
        <p:cNvPr id="1" name=""/>
        <p:cNvGrpSpPr/>
        <p:nvPr/>
      </p:nvGrpSpPr>
      <p:grpSpPr/>
      <p:sp>
        <p:nvSpPr>
          <p:cNvPr id="2" name="Rounded Rectangle 1"/>
          <p:cNvSpPr/>
          <p:nvPr/>
        </p:nvSpPr>
        <p:spPr>
          <a:xfrm>
            <a:off x="502920" y="384048"/>
            <a:ext cx="128016" cy="47548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0896"/>
            <a:ext cx="8686800" cy="640080"/>
          </a:xfrm>
          <a:prstGeom prst="rect">
            <a:avLst/>
          </a:prstGeom>
          <a:noFill/>
        </p:spPr>
        <p:txBody>
          <a:bodyPr wrap="square" anchor="t">
            <a:spAutoFit/>
          </a:bodyPr>
          <a:lstStyle/>
          <a:p>
            <a:pPr algn="l"/>
            <a:r>
              <a:rPr sz="3000" b="1">
                <a:solidFill>
                  <a:srgbClr val="17332C"/>
                </a:solidFill>
                <a:latin typeface="Segoe UI"/>
              </a:rPr>
              <a:t>All 15 models at a glance</a:t>
            </a:r>
          </a:p>
        </p:txBody>
      </p:sp>
      <p:sp>
        <p:nvSpPr>
          <p:cNvPr id="4" name="TextBox 3"/>
          <p:cNvSpPr txBox="1"/>
          <p:nvPr/>
        </p:nvSpPr>
        <p:spPr>
          <a:xfrm>
            <a:off x="795528" y="841248"/>
            <a:ext cx="9144000" cy="365760"/>
          </a:xfrm>
          <a:prstGeom prst="rect">
            <a:avLst/>
          </a:prstGeom>
          <a:noFill/>
        </p:spPr>
        <p:txBody>
          <a:bodyPr wrap="square" anchor="t">
            <a:spAutoFit/>
          </a:bodyPr>
          <a:lstStyle/>
          <a:p>
            <a:pPr algn="l"/>
            <a:r>
              <a:rPr sz="1300" b="0">
                <a:solidFill>
                  <a:srgbClr val="5B7770"/>
                </a:solidFill>
                <a:latin typeface="Segoe UI"/>
              </a:rPr>
              <a:t>Random Forest is the champion — best F1 at 80.0%</a:t>
            </a:r>
          </a:p>
        </p:txBody>
      </p:sp>
      <p:sp>
        <p:nvSpPr>
          <p:cNvPr id="5" name="TextBox 4"/>
          <p:cNvSpPr txBox="1"/>
          <p:nvPr/>
        </p:nvSpPr>
        <p:spPr>
          <a:xfrm>
            <a:off x="11064240" y="365760"/>
            <a:ext cx="822960" cy="365760"/>
          </a:xfrm>
          <a:prstGeom prst="rect">
            <a:avLst/>
          </a:prstGeom>
          <a:noFill/>
        </p:spPr>
        <p:txBody>
          <a:bodyPr wrap="square" anchor="t">
            <a:spAutoFit/>
          </a:bodyPr>
          <a:lstStyle/>
          <a:p>
            <a:pPr algn="r"/>
            <a:r>
              <a:rPr sz="1100" b="1">
                <a:solidFill>
                  <a:srgbClr val="8AA39C"/>
                </a:solidFill>
                <a:latin typeface="Segoe UI"/>
              </a:rPr>
              <a:t>09/10</a:t>
            </a:r>
          </a:p>
        </p:txBody>
      </p:sp>
      <p:sp>
        <p:nvSpPr>
          <p:cNvPr id="6" name="Rounded Rectangle 5"/>
          <p:cNvSpPr/>
          <p:nvPr/>
        </p:nvSpPr>
        <p:spPr>
          <a:xfrm>
            <a:off x="777240" y="1371600"/>
            <a:ext cx="10607040" cy="45720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444752"/>
            <a:ext cx="4114800" cy="320040"/>
          </a:xfrm>
          <a:prstGeom prst="rect">
            <a:avLst/>
          </a:prstGeom>
          <a:noFill/>
        </p:spPr>
        <p:txBody>
          <a:bodyPr wrap="square" anchor="t">
            <a:spAutoFit/>
          </a:bodyPr>
          <a:lstStyle/>
          <a:p>
            <a:pPr algn="l"/>
            <a:r>
              <a:rPr sz="1300" b="1">
                <a:solidFill>
                  <a:srgbClr val="FFFFFF"/>
                </a:solidFill>
                <a:latin typeface="Segoe UI"/>
              </a:rPr>
              <a:t>Model</a:t>
            </a:r>
          </a:p>
        </p:txBody>
      </p:sp>
      <p:sp>
        <p:nvSpPr>
          <p:cNvPr id="8" name="TextBox 7"/>
          <p:cNvSpPr txBox="1"/>
          <p:nvPr/>
        </p:nvSpPr>
        <p:spPr>
          <a:xfrm>
            <a:off x="5486400" y="1444752"/>
            <a:ext cx="5486400" cy="320040"/>
          </a:xfrm>
          <a:prstGeom prst="rect">
            <a:avLst/>
          </a:prstGeom>
          <a:noFill/>
        </p:spPr>
        <p:txBody>
          <a:bodyPr wrap="square" anchor="t">
            <a:spAutoFit/>
          </a:bodyPr>
          <a:lstStyle/>
          <a:p>
            <a:pPr algn="l"/>
            <a:r>
              <a:rPr sz="1300" b="1">
                <a:solidFill>
                  <a:srgbClr val="FFFFFF"/>
                </a:solidFill>
                <a:latin typeface="Segoe UI"/>
              </a:rPr>
              <a:t>Key Result</a:t>
            </a:r>
          </a:p>
        </p:txBody>
      </p:sp>
      <p:sp>
        <p:nvSpPr>
          <p:cNvPr id="9" name="Rectangle 8"/>
          <p:cNvSpPr/>
          <p:nvPr/>
        </p:nvSpPr>
        <p:spPr>
          <a:xfrm>
            <a:off x="777240" y="1883664"/>
            <a:ext cx="10607040" cy="457200"/>
          </a:xfrm>
          <a:prstGeom prst="rect">
            <a:avLst/>
          </a:prstGeom>
          <a:solidFill>
            <a:srgbClr val="DF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56816"/>
            <a:ext cx="4297680" cy="320040"/>
          </a:xfrm>
          <a:prstGeom prst="rect">
            <a:avLst/>
          </a:prstGeom>
          <a:noFill/>
        </p:spPr>
        <p:txBody>
          <a:bodyPr wrap="square" anchor="t">
            <a:spAutoFit/>
          </a:bodyPr>
          <a:lstStyle/>
          <a:p>
            <a:pPr algn="l"/>
            <a:r>
              <a:rPr sz="1200" b="0">
                <a:solidFill>
                  <a:srgbClr val="17332C"/>
                </a:solidFill>
                <a:latin typeface="Segoe UI"/>
              </a:rPr>
              <a:t>Linear Regression</a:t>
            </a:r>
          </a:p>
        </p:txBody>
      </p:sp>
      <p:sp>
        <p:nvSpPr>
          <p:cNvPr id="11" name="TextBox 10"/>
          <p:cNvSpPr txBox="1"/>
          <p:nvPr/>
        </p:nvSpPr>
        <p:spPr>
          <a:xfrm>
            <a:off x="5486400" y="1956816"/>
            <a:ext cx="5669280" cy="320040"/>
          </a:xfrm>
          <a:prstGeom prst="rect">
            <a:avLst/>
          </a:prstGeom>
          <a:noFill/>
        </p:spPr>
        <p:txBody>
          <a:bodyPr wrap="square" anchor="t">
            <a:spAutoFit/>
          </a:bodyPr>
          <a:lstStyle/>
          <a:p>
            <a:pPr algn="l"/>
            <a:r>
              <a:rPr sz="1200" b="0">
                <a:solidFill>
                  <a:srgbClr val="5B7770"/>
                </a:solidFill>
                <a:latin typeface="Segoe UI"/>
              </a:rPr>
              <a:t>MAE 0.75  ·  R² 0.011</a:t>
            </a:r>
          </a:p>
        </p:txBody>
      </p:sp>
      <p:sp>
        <p:nvSpPr>
          <p:cNvPr id="12" name="Rectangle 11"/>
          <p:cNvSpPr/>
          <p:nvPr/>
        </p:nvSpPr>
        <p:spPr>
          <a:xfrm>
            <a:off x="777240" y="2377440"/>
            <a:ext cx="10607040" cy="457200"/>
          </a:xfrm>
          <a:prstGeom prst="rect">
            <a:avLst/>
          </a:prstGeom>
          <a:solidFill>
            <a:srgbClr val="DF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450592"/>
            <a:ext cx="4297680" cy="320040"/>
          </a:xfrm>
          <a:prstGeom prst="rect">
            <a:avLst/>
          </a:prstGeom>
          <a:noFill/>
        </p:spPr>
        <p:txBody>
          <a:bodyPr wrap="square" anchor="t">
            <a:spAutoFit/>
          </a:bodyPr>
          <a:lstStyle/>
          <a:p>
            <a:pPr algn="l"/>
            <a:r>
              <a:rPr sz="1200" b="0">
                <a:solidFill>
                  <a:srgbClr val="17332C"/>
                </a:solidFill>
                <a:latin typeface="Segoe UI"/>
              </a:rPr>
              <a:t>Ridge / Lasso / Elastic Net</a:t>
            </a:r>
          </a:p>
        </p:txBody>
      </p:sp>
      <p:sp>
        <p:nvSpPr>
          <p:cNvPr id="14" name="TextBox 13"/>
          <p:cNvSpPr txBox="1"/>
          <p:nvPr/>
        </p:nvSpPr>
        <p:spPr>
          <a:xfrm>
            <a:off x="5486400" y="2450592"/>
            <a:ext cx="5669280" cy="320040"/>
          </a:xfrm>
          <a:prstGeom prst="rect">
            <a:avLst/>
          </a:prstGeom>
          <a:noFill/>
        </p:spPr>
        <p:txBody>
          <a:bodyPr wrap="square" anchor="t">
            <a:spAutoFit/>
          </a:bodyPr>
          <a:lstStyle/>
          <a:p>
            <a:pPr algn="l"/>
            <a:r>
              <a:rPr sz="1200" b="0">
                <a:solidFill>
                  <a:srgbClr val="5B7770"/>
                </a:solidFill>
                <a:latin typeface="Segoe UI"/>
              </a:rPr>
              <a:t>Accuracy ≈ 69–70%</a:t>
            </a:r>
          </a:p>
        </p:txBody>
      </p:sp>
      <p:sp>
        <p:nvSpPr>
          <p:cNvPr id="15" name="Rectangle 14"/>
          <p:cNvSpPr/>
          <p:nvPr/>
        </p:nvSpPr>
        <p:spPr>
          <a:xfrm>
            <a:off x="777240" y="2871216"/>
            <a:ext cx="10607040" cy="457200"/>
          </a:xfrm>
          <a:prstGeom prst="rect">
            <a:avLst/>
          </a:prstGeom>
          <a:solidFill>
            <a:srgbClr val="DF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2944368"/>
            <a:ext cx="4297680" cy="320040"/>
          </a:xfrm>
          <a:prstGeom prst="rect">
            <a:avLst/>
          </a:prstGeom>
          <a:noFill/>
        </p:spPr>
        <p:txBody>
          <a:bodyPr wrap="square" anchor="t">
            <a:spAutoFit/>
          </a:bodyPr>
          <a:lstStyle/>
          <a:p>
            <a:pPr algn="l"/>
            <a:r>
              <a:rPr sz="1200" b="0">
                <a:solidFill>
                  <a:srgbClr val="17332C"/>
                </a:solidFill>
                <a:latin typeface="Segoe UI"/>
              </a:rPr>
              <a:t>Logistic Regression</a:t>
            </a:r>
          </a:p>
        </p:txBody>
      </p:sp>
      <p:sp>
        <p:nvSpPr>
          <p:cNvPr id="17" name="TextBox 16"/>
          <p:cNvSpPr txBox="1"/>
          <p:nvPr/>
        </p:nvSpPr>
        <p:spPr>
          <a:xfrm>
            <a:off x="5486400" y="2944368"/>
            <a:ext cx="5669280" cy="320040"/>
          </a:xfrm>
          <a:prstGeom prst="rect">
            <a:avLst/>
          </a:prstGeom>
          <a:noFill/>
        </p:spPr>
        <p:txBody>
          <a:bodyPr wrap="square" anchor="t">
            <a:spAutoFit/>
          </a:bodyPr>
          <a:lstStyle/>
          <a:p>
            <a:pPr algn="l"/>
            <a:r>
              <a:rPr sz="1200" b="0">
                <a:solidFill>
                  <a:srgbClr val="5B7770"/>
                </a:solidFill>
                <a:latin typeface="Segoe UI"/>
              </a:rPr>
              <a:t>Accuracy 69.07%</a:t>
            </a:r>
          </a:p>
        </p:txBody>
      </p:sp>
      <p:sp>
        <p:nvSpPr>
          <p:cNvPr id="18" name="Rectangle 17"/>
          <p:cNvSpPr/>
          <p:nvPr/>
        </p:nvSpPr>
        <p:spPr>
          <a:xfrm>
            <a:off x="777240" y="3364992"/>
            <a:ext cx="10607040" cy="457200"/>
          </a:xfrm>
          <a:prstGeom prst="rect">
            <a:avLst/>
          </a:prstGeom>
          <a:solidFill>
            <a:srgbClr val="DF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3438144"/>
            <a:ext cx="4297680" cy="320040"/>
          </a:xfrm>
          <a:prstGeom prst="rect">
            <a:avLst/>
          </a:prstGeom>
          <a:noFill/>
        </p:spPr>
        <p:txBody>
          <a:bodyPr wrap="square" anchor="t">
            <a:spAutoFit/>
          </a:bodyPr>
          <a:lstStyle/>
          <a:p>
            <a:pPr algn="l"/>
            <a:r>
              <a:rPr sz="1200" b="0">
                <a:solidFill>
                  <a:srgbClr val="17332C"/>
                </a:solidFill>
                <a:latin typeface="Segoe UI"/>
              </a:rPr>
              <a:t>Multinomial LogReg</a:t>
            </a:r>
          </a:p>
        </p:txBody>
      </p:sp>
      <p:sp>
        <p:nvSpPr>
          <p:cNvPr id="20" name="TextBox 19"/>
          <p:cNvSpPr txBox="1"/>
          <p:nvPr/>
        </p:nvSpPr>
        <p:spPr>
          <a:xfrm>
            <a:off x="5486400" y="3438144"/>
            <a:ext cx="5669280" cy="320040"/>
          </a:xfrm>
          <a:prstGeom prst="rect">
            <a:avLst/>
          </a:prstGeom>
          <a:noFill/>
        </p:spPr>
        <p:txBody>
          <a:bodyPr wrap="square" anchor="t">
            <a:spAutoFit/>
          </a:bodyPr>
          <a:lstStyle/>
          <a:p>
            <a:pPr algn="l"/>
            <a:r>
              <a:rPr sz="1200" b="0">
                <a:solidFill>
                  <a:srgbClr val="5B7770"/>
                </a:solidFill>
                <a:latin typeface="Segoe UI"/>
              </a:rPr>
              <a:t>Accuracy 34% (21 classes)</a:t>
            </a:r>
          </a:p>
        </p:txBody>
      </p:sp>
      <p:sp>
        <p:nvSpPr>
          <p:cNvPr id="21" name="Rectangle 20"/>
          <p:cNvSpPr/>
          <p:nvPr/>
        </p:nvSpPr>
        <p:spPr>
          <a:xfrm>
            <a:off x="777240" y="3858768"/>
            <a:ext cx="10607040" cy="457200"/>
          </a:xfrm>
          <a:prstGeom prst="rect">
            <a:avLst/>
          </a:prstGeom>
          <a:solidFill>
            <a:srgbClr val="DC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3931920"/>
            <a:ext cx="4297680" cy="320040"/>
          </a:xfrm>
          <a:prstGeom prst="rect">
            <a:avLst/>
          </a:prstGeom>
          <a:noFill/>
        </p:spPr>
        <p:txBody>
          <a:bodyPr wrap="square" anchor="t">
            <a:spAutoFit/>
          </a:bodyPr>
          <a:lstStyle/>
          <a:p>
            <a:pPr algn="l"/>
            <a:r>
              <a:rPr sz="1200" b="0">
                <a:solidFill>
                  <a:srgbClr val="17332C"/>
                </a:solidFill>
                <a:latin typeface="Segoe UI"/>
              </a:rPr>
              <a:t>Decision Tree</a:t>
            </a:r>
          </a:p>
        </p:txBody>
      </p:sp>
      <p:sp>
        <p:nvSpPr>
          <p:cNvPr id="23" name="TextBox 22"/>
          <p:cNvSpPr txBox="1"/>
          <p:nvPr/>
        </p:nvSpPr>
        <p:spPr>
          <a:xfrm>
            <a:off x="5486400" y="3931920"/>
            <a:ext cx="5669280" cy="320040"/>
          </a:xfrm>
          <a:prstGeom prst="rect">
            <a:avLst/>
          </a:prstGeom>
          <a:noFill/>
        </p:spPr>
        <p:txBody>
          <a:bodyPr wrap="square" anchor="t">
            <a:spAutoFit/>
          </a:bodyPr>
          <a:lstStyle/>
          <a:p>
            <a:pPr algn="l"/>
            <a:r>
              <a:rPr sz="1200" b="0">
                <a:solidFill>
                  <a:srgbClr val="5B7770"/>
                </a:solidFill>
                <a:latin typeface="Segoe UI"/>
              </a:rPr>
              <a:t>Acc 72.2%  ·  F1 78.4%</a:t>
            </a:r>
          </a:p>
        </p:txBody>
      </p:sp>
      <p:sp>
        <p:nvSpPr>
          <p:cNvPr id="24" name="Rectangle 23"/>
          <p:cNvSpPr/>
          <p:nvPr/>
        </p:nvSpPr>
        <p:spPr>
          <a:xfrm>
            <a:off x="777240" y="4352544"/>
            <a:ext cx="10607040" cy="457200"/>
          </a:xfrm>
          <a:prstGeom prst="rect">
            <a:avLst/>
          </a:prstGeom>
          <a:solidFill>
            <a:srgbClr val="DC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4425696"/>
            <a:ext cx="4297680" cy="320040"/>
          </a:xfrm>
          <a:prstGeom prst="rect">
            <a:avLst/>
          </a:prstGeom>
          <a:noFill/>
        </p:spPr>
        <p:txBody>
          <a:bodyPr wrap="square" anchor="t">
            <a:spAutoFit/>
          </a:bodyPr>
          <a:lstStyle/>
          <a:p>
            <a:pPr algn="l"/>
            <a:r>
              <a:rPr sz="1200" b="1">
                <a:solidFill>
                  <a:srgbClr val="17332C"/>
                </a:solidFill>
                <a:latin typeface="Segoe UI"/>
              </a:rPr>
              <a:t>Random Forest ★</a:t>
            </a:r>
          </a:p>
        </p:txBody>
      </p:sp>
      <p:sp>
        <p:nvSpPr>
          <p:cNvPr id="26" name="TextBox 25"/>
          <p:cNvSpPr txBox="1"/>
          <p:nvPr/>
        </p:nvSpPr>
        <p:spPr>
          <a:xfrm>
            <a:off x="5486400" y="4425696"/>
            <a:ext cx="5669280" cy="320040"/>
          </a:xfrm>
          <a:prstGeom prst="rect">
            <a:avLst/>
          </a:prstGeom>
          <a:noFill/>
        </p:spPr>
        <p:txBody>
          <a:bodyPr wrap="square" anchor="t">
            <a:spAutoFit/>
          </a:bodyPr>
          <a:lstStyle/>
          <a:p>
            <a:pPr algn="l"/>
            <a:r>
              <a:rPr sz="1200" b="0">
                <a:solidFill>
                  <a:srgbClr val="5B7770"/>
                </a:solidFill>
                <a:latin typeface="Segoe UI"/>
              </a:rPr>
              <a:t>Acc 73.0%  ·  F1 80.0%</a:t>
            </a:r>
          </a:p>
        </p:txBody>
      </p:sp>
      <p:sp>
        <p:nvSpPr>
          <p:cNvPr id="27" name="Rectangle 26"/>
          <p:cNvSpPr/>
          <p:nvPr/>
        </p:nvSpPr>
        <p:spPr>
          <a:xfrm>
            <a:off x="777240" y="4846320"/>
            <a:ext cx="10607040" cy="457200"/>
          </a:xfrm>
          <a:prstGeom prst="rect">
            <a:avLst/>
          </a:prstGeom>
          <a:solidFill>
            <a:srgbClr val="DC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4919472"/>
            <a:ext cx="4297680" cy="320040"/>
          </a:xfrm>
          <a:prstGeom prst="rect">
            <a:avLst/>
          </a:prstGeom>
          <a:noFill/>
        </p:spPr>
        <p:txBody>
          <a:bodyPr wrap="square" anchor="t">
            <a:spAutoFit/>
          </a:bodyPr>
          <a:lstStyle/>
          <a:p>
            <a:pPr algn="l"/>
            <a:r>
              <a:rPr sz="1200" b="0">
                <a:solidFill>
                  <a:srgbClr val="17332C"/>
                </a:solidFill>
                <a:latin typeface="Segoe UI"/>
              </a:rPr>
              <a:t>AdaBoost</a:t>
            </a:r>
          </a:p>
        </p:txBody>
      </p:sp>
      <p:sp>
        <p:nvSpPr>
          <p:cNvPr id="29" name="TextBox 28"/>
          <p:cNvSpPr txBox="1"/>
          <p:nvPr/>
        </p:nvSpPr>
        <p:spPr>
          <a:xfrm>
            <a:off x="5486400" y="4919472"/>
            <a:ext cx="5669280" cy="320040"/>
          </a:xfrm>
          <a:prstGeom prst="rect">
            <a:avLst/>
          </a:prstGeom>
          <a:noFill/>
        </p:spPr>
        <p:txBody>
          <a:bodyPr wrap="square" anchor="t">
            <a:spAutoFit/>
          </a:bodyPr>
          <a:lstStyle/>
          <a:p>
            <a:pPr algn="l"/>
            <a:r>
              <a:rPr sz="1200" b="0">
                <a:solidFill>
                  <a:srgbClr val="5B7770"/>
                </a:solidFill>
                <a:latin typeface="Segoe UI"/>
              </a:rPr>
              <a:t>Acc 73.3%  ·  F1 79.2%</a:t>
            </a:r>
          </a:p>
        </p:txBody>
      </p:sp>
      <p:sp>
        <p:nvSpPr>
          <p:cNvPr id="30" name="Rectangle 29"/>
          <p:cNvSpPr/>
          <p:nvPr/>
        </p:nvSpPr>
        <p:spPr>
          <a:xfrm>
            <a:off x="777240" y="5340096"/>
            <a:ext cx="10607040" cy="457200"/>
          </a:xfrm>
          <a:prstGeom prst="rect">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413248"/>
            <a:ext cx="4297680" cy="320040"/>
          </a:xfrm>
          <a:prstGeom prst="rect">
            <a:avLst/>
          </a:prstGeom>
          <a:noFill/>
        </p:spPr>
        <p:txBody>
          <a:bodyPr wrap="square" anchor="t">
            <a:spAutoFit/>
          </a:bodyPr>
          <a:lstStyle/>
          <a:p>
            <a:pPr algn="l"/>
            <a:r>
              <a:rPr sz="1200" b="0">
                <a:solidFill>
                  <a:srgbClr val="17332C"/>
                </a:solidFill>
                <a:latin typeface="Segoe UI"/>
              </a:rPr>
              <a:t>K-Means / K-Means++</a:t>
            </a:r>
          </a:p>
        </p:txBody>
      </p:sp>
      <p:sp>
        <p:nvSpPr>
          <p:cNvPr id="32" name="TextBox 31"/>
          <p:cNvSpPr txBox="1"/>
          <p:nvPr/>
        </p:nvSpPr>
        <p:spPr>
          <a:xfrm>
            <a:off x="5486400" y="5413248"/>
            <a:ext cx="5669280" cy="320040"/>
          </a:xfrm>
          <a:prstGeom prst="rect">
            <a:avLst/>
          </a:prstGeom>
          <a:noFill/>
        </p:spPr>
        <p:txBody>
          <a:bodyPr wrap="square" anchor="t">
            <a:spAutoFit/>
          </a:bodyPr>
          <a:lstStyle/>
          <a:p>
            <a:pPr algn="l"/>
            <a:r>
              <a:rPr sz="1200" b="0">
                <a:solidFill>
                  <a:srgbClr val="5B7770"/>
                </a:solidFill>
                <a:latin typeface="Segoe UI"/>
              </a:rPr>
              <a:t>K = 3  ·  Silhouette 0.32</a:t>
            </a:r>
          </a:p>
        </p:txBody>
      </p:sp>
      <p:sp>
        <p:nvSpPr>
          <p:cNvPr id="33" name="Rectangle 32"/>
          <p:cNvSpPr/>
          <p:nvPr/>
        </p:nvSpPr>
        <p:spPr>
          <a:xfrm>
            <a:off x="777240" y="5833872"/>
            <a:ext cx="10607040" cy="457200"/>
          </a:xfrm>
          <a:prstGeom prst="rect">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5840" y="5907024"/>
            <a:ext cx="4297680" cy="320040"/>
          </a:xfrm>
          <a:prstGeom prst="rect">
            <a:avLst/>
          </a:prstGeom>
          <a:noFill/>
        </p:spPr>
        <p:txBody>
          <a:bodyPr wrap="square" anchor="t">
            <a:spAutoFit/>
          </a:bodyPr>
          <a:lstStyle/>
          <a:p>
            <a:pPr algn="l"/>
            <a:r>
              <a:rPr sz="1200" b="0">
                <a:solidFill>
                  <a:srgbClr val="17332C"/>
                </a:solidFill>
                <a:latin typeface="Segoe UI"/>
              </a:rPr>
              <a:t>t-SNE / PCA / DBSCAN</a:t>
            </a:r>
          </a:p>
        </p:txBody>
      </p:sp>
      <p:sp>
        <p:nvSpPr>
          <p:cNvPr id="35" name="TextBox 34"/>
          <p:cNvSpPr txBox="1"/>
          <p:nvPr/>
        </p:nvSpPr>
        <p:spPr>
          <a:xfrm>
            <a:off x="5486400" y="5907024"/>
            <a:ext cx="5669280" cy="320040"/>
          </a:xfrm>
          <a:prstGeom prst="rect">
            <a:avLst/>
          </a:prstGeom>
          <a:noFill/>
        </p:spPr>
        <p:txBody>
          <a:bodyPr wrap="square" anchor="t">
            <a:spAutoFit/>
          </a:bodyPr>
          <a:lstStyle/>
          <a:p>
            <a:pPr algn="l"/>
            <a:r>
              <a:rPr sz="1200" b="0">
                <a:solidFill>
                  <a:srgbClr val="5B7770"/>
                </a:solidFill>
                <a:latin typeface="Segoe UI"/>
              </a:rPr>
              <a:t>7 clusters · 13 PCs for 95%</a:t>
            </a:r>
          </a:p>
        </p:txBody>
      </p:sp>
      <p:sp>
        <p:nvSpPr>
          <p:cNvPr id="36" name="Rectangle 35"/>
          <p:cNvSpPr/>
          <p:nvPr/>
        </p:nvSpPr>
        <p:spPr>
          <a:xfrm>
            <a:off x="777240" y="6327648"/>
            <a:ext cx="10607040" cy="457200"/>
          </a:xfrm>
          <a:prstGeom prst="rect">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5840" y="6400800"/>
            <a:ext cx="4297680" cy="320040"/>
          </a:xfrm>
          <a:prstGeom prst="rect">
            <a:avLst/>
          </a:prstGeom>
          <a:noFill/>
        </p:spPr>
        <p:txBody>
          <a:bodyPr wrap="square" anchor="t">
            <a:spAutoFit/>
          </a:bodyPr>
          <a:lstStyle/>
          <a:p>
            <a:pPr algn="l"/>
            <a:r>
              <a:rPr sz="1200" b="0">
                <a:solidFill>
                  <a:srgbClr val="17332C"/>
                </a:solidFill>
                <a:latin typeface="Segoe UI"/>
              </a:rPr>
              <a:t>Hierarchical + CV Tree</a:t>
            </a:r>
          </a:p>
        </p:txBody>
      </p:sp>
      <p:sp>
        <p:nvSpPr>
          <p:cNvPr id="38" name="TextBox 37"/>
          <p:cNvSpPr txBox="1"/>
          <p:nvPr/>
        </p:nvSpPr>
        <p:spPr>
          <a:xfrm>
            <a:off x="5486400" y="6400800"/>
            <a:ext cx="5669280" cy="320040"/>
          </a:xfrm>
          <a:prstGeom prst="rect">
            <a:avLst/>
          </a:prstGeom>
          <a:noFill/>
        </p:spPr>
        <p:txBody>
          <a:bodyPr wrap="square" anchor="t">
            <a:spAutoFit/>
          </a:bodyPr>
          <a:lstStyle/>
          <a:p>
            <a:pPr algn="l"/>
            <a:r>
              <a:rPr sz="1200" b="0">
                <a:solidFill>
                  <a:srgbClr val="5B7770"/>
                </a:solidFill>
                <a:latin typeface="Segoe UI"/>
              </a:rPr>
              <a:t>Divisive 0.304 · CV F1 69.1%</a:t>
            </a:r>
          </a:p>
        </p:txBody>
      </p:sp>
      <p:sp>
        <p:nvSpPr>
          <p:cNvPr id="39" name="TextBox 38"/>
          <p:cNvSpPr txBox="1"/>
          <p:nvPr/>
        </p:nvSpPr>
        <p:spPr>
          <a:xfrm>
            <a:off x="502920" y="6446520"/>
            <a:ext cx="5486400" cy="274320"/>
          </a:xfrm>
          <a:prstGeom prst="rect">
            <a:avLst/>
          </a:prstGeom>
          <a:noFill/>
        </p:spPr>
        <p:txBody>
          <a:bodyPr wrap="square" anchor="t">
            <a:spAutoFit/>
          </a:bodyPr>
          <a:lstStyle/>
          <a:p>
            <a:pPr algn="l"/>
            <a:r>
              <a:rPr sz="900" b="0">
                <a:solidFill>
                  <a:srgbClr val="8AA39C"/>
                </a:solidFill>
                <a:latin typeface="Segoe UI"/>
              </a:rPr>
              <a:t>CartIQ  ·  Grocery Market Basket Intelligence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BF8"/>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10515600" cy="1097280"/>
          </a:xfrm>
          <a:prstGeom prst="rect">
            <a:avLst/>
          </a:prstGeom>
          <a:noFill/>
        </p:spPr>
        <p:txBody>
          <a:bodyPr wrap="square" anchor="t">
            <a:spAutoFit/>
          </a:bodyPr>
          <a:lstStyle/>
          <a:p>
            <a:pPr algn="ctr"/>
            <a:r>
              <a:rPr sz="5400" b="1">
                <a:solidFill>
                  <a:srgbClr val="17332C"/>
                </a:solidFill>
                <a:latin typeface="Segoe UI"/>
              </a:rPr>
              <a:t>Thank you</a:t>
            </a:r>
          </a:p>
        </p:txBody>
      </p:sp>
      <p:sp>
        <p:nvSpPr>
          <p:cNvPr id="4" name="TextBox 3"/>
          <p:cNvSpPr txBox="1"/>
          <p:nvPr/>
        </p:nvSpPr>
        <p:spPr>
          <a:xfrm>
            <a:off x="822960" y="2468880"/>
            <a:ext cx="10515600" cy="457200"/>
          </a:xfrm>
          <a:prstGeom prst="rect">
            <a:avLst/>
          </a:prstGeom>
          <a:noFill/>
        </p:spPr>
        <p:txBody>
          <a:bodyPr wrap="square" anchor="t">
            <a:spAutoFit/>
          </a:bodyPr>
          <a:lstStyle/>
          <a:p>
            <a:pPr algn="ctr"/>
            <a:r>
              <a:rPr sz="2200" b="0">
                <a:solidFill>
                  <a:srgbClr val="0D9488"/>
                </a:solidFill>
                <a:latin typeface="Segoe UI"/>
              </a:rPr>
              <a:t>Questions welcome</a:t>
            </a:r>
          </a:p>
        </p:txBody>
      </p:sp>
      <p:sp>
        <p:nvSpPr>
          <p:cNvPr id="5" name="Rounded Rectangle 4"/>
          <p:cNvSpPr/>
          <p:nvPr/>
        </p:nvSpPr>
        <p:spPr>
          <a:xfrm>
            <a:off x="1463040" y="3383280"/>
            <a:ext cx="3017520" cy="1234440"/>
          </a:xfrm>
          <a:prstGeom prst="roundRect">
            <a:avLst/>
          </a:prstGeom>
          <a:solidFill>
            <a:srgbClr val="DC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0" y="3520440"/>
            <a:ext cx="3017520" cy="411480"/>
          </a:xfrm>
          <a:prstGeom prst="rect">
            <a:avLst/>
          </a:prstGeom>
          <a:noFill/>
        </p:spPr>
        <p:txBody>
          <a:bodyPr wrap="square" anchor="t">
            <a:spAutoFit/>
          </a:bodyPr>
          <a:lstStyle/>
          <a:p>
            <a:pPr algn="ctr"/>
            <a:r>
              <a:rPr sz="2200" b="0">
                <a:solidFill>
                  <a:srgbClr val="17332C"/>
                </a:solidFill>
                <a:latin typeface="Segoe UI"/>
              </a:rPr>
              <a:t>🤖</a:t>
            </a:r>
          </a:p>
        </p:txBody>
      </p:sp>
      <p:sp>
        <p:nvSpPr>
          <p:cNvPr id="7" name="TextBox 6"/>
          <p:cNvSpPr txBox="1"/>
          <p:nvPr/>
        </p:nvSpPr>
        <p:spPr>
          <a:xfrm>
            <a:off x="1600200" y="3977639"/>
            <a:ext cx="2743200" cy="548640"/>
          </a:xfrm>
          <a:prstGeom prst="rect">
            <a:avLst/>
          </a:prstGeom>
          <a:noFill/>
        </p:spPr>
        <p:txBody>
          <a:bodyPr wrap="square" anchor="t">
            <a:spAutoFit/>
          </a:bodyPr>
          <a:lstStyle/>
          <a:p>
            <a:pPr algn="ctr"/>
            <a:r>
              <a:rPr sz="1200" b="0">
                <a:solidFill>
                  <a:srgbClr val="5B7770"/>
                </a:solidFill>
                <a:latin typeface="Segoe UI"/>
              </a:rPr>
              <a:t>Deep learning on order sequences</a:t>
            </a:r>
          </a:p>
        </p:txBody>
      </p:sp>
      <p:sp>
        <p:nvSpPr>
          <p:cNvPr id="8" name="Rounded Rectangle 7"/>
          <p:cNvSpPr/>
          <p:nvPr/>
        </p:nvSpPr>
        <p:spPr>
          <a:xfrm>
            <a:off x="4709160" y="3383280"/>
            <a:ext cx="3017520" cy="1234440"/>
          </a:xfrm>
          <a:prstGeom prst="roundRect">
            <a:avLst/>
          </a:prstGeom>
          <a:solidFill>
            <a:srgbClr val="DC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09160" y="3520440"/>
            <a:ext cx="3017520" cy="411480"/>
          </a:xfrm>
          <a:prstGeom prst="rect">
            <a:avLst/>
          </a:prstGeom>
          <a:noFill/>
        </p:spPr>
        <p:txBody>
          <a:bodyPr wrap="square" anchor="t">
            <a:spAutoFit/>
          </a:bodyPr>
          <a:lstStyle/>
          <a:p>
            <a:pPr algn="ctr"/>
            <a:r>
              <a:rPr sz="2200" b="0">
                <a:solidFill>
                  <a:srgbClr val="17332C"/>
                </a:solidFill>
                <a:latin typeface="Segoe UI"/>
              </a:rPr>
              <a:t>🌐</a:t>
            </a:r>
          </a:p>
        </p:txBody>
      </p:sp>
      <p:sp>
        <p:nvSpPr>
          <p:cNvPr id="10" name="TextBox 9"/>
          <p:cNvSpPr txBox="1"/>
          <p:nvPr/>
        </p:nvSpPr>
        <p:spPr>
          <a:xfrm>
            <a:off x="4846320" y="3977639"/>
            <a:ext cx="2743200" cy="548640"/>
          </a:xfrm>
          <a:prstGeom prst="rect">
            <a:avLst/>
          </a:prstGeom>
          <a:noFill/>
        </p:spPr>
        <p:txBody>
          <a:bodyPr wrap="square" anchor="t">
            <a:spAutoFit/>
          </a:bodyPr>
          <a:lstStyle/>
          <a:p>
            <a:pPr algn="ctr"/>
            <a:r>
              <a:rPr sz="1200" b="0">
                <a:solidFill>
                  <a:srgbClr val="5B7770"/>
                </a:solidFill>
                <a:latin typeface="Segoe UI"/>
              </a:rPr>
              <a:t>Real-time grocery API integration</a:t>
            </a:r>
          </a:p>
        </p:txBody>
      </p:sp>
      <p:sp>
        <p:nvSpPr>
          <p:cNvPr id="11" name="Rounded Rectangle 10"/>
          <p:cNvSpPr/>
          <p:nvPr/>
        </p:nvSpPr>
        <p:spPr>
          <a:xfrm>
            <a:off x="7955280" y="3383280"/>
            <a:ext cx="3017520" cy="1234440"/>
          </a:xfrm>
          <a:prstGeom prst="roundRect">
            <a:avLst/>
          </a:prstGeom>
          <a:solidFill>
            <a:srgbClr val="DC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0" y="3520440"/>
            <a:ext cx="3017520" cy="411480"/>
          </a:xfrm>
          <a:prstGeom prst="rect">
            <a:avLst/>
          </a:prstGeom>
          <a:noFill/>
        </p:spPr>
        <p:txBody>
          <a:bodyPr wrap="square" anchor="t">
            <a:spAutoFit/>
          </a:bodyPr>
          <a:lstStyle/>
          <a:p>
            <a:pPr algn="ctr"/>
            <a:r>
              <a:rPr sz="2200" b="0">
                <a:solidFill>
                  <a:srgbClr val="17332C"/>
                </a:solidFill>
                <a:latin typeface="Segoe UI"/>
              </a:rPr>
              <a:t>✨</a:t>
            </a:r>
          </a:p>
        </p:txBody>
      </p:sp>
      <p:sp>
        <p:nvSpPr>
          <p:cNvPr id="13" name="TextBox 12"/>
          <p:cNvSpPr txBox="1"/>
          <p:nvPr/>
        </p:nvSpPr>
        <p:spPr>
          <a:xfrm>
            <a:off x="8092440" y="3977639"/>
            <a:ext cx="2743200" cy="548640"/>
          </a:xfrm>
          <a:prstGeom prst="rect">
            <a:avLst/>
          </a:prstGeom>
          <a:noFill/>
        </p:spPr>
        <p:txBody>
          <a:bodyPr wrap="square" anchor="t">
            <a:spAutoFit/>
          </a:bodyPr>
          <a:lstStyle/>
          <a:p>
            <a:pPr algn="ctr"/>
            <a:r>
              <a:rPr sz="1200" b="0">
                <a:solidFill>
                  <a:srgbClr val="5B7770"/>
                </a:solidFill>
                <a:latin typeface="Segoe UI"/>
              </a:rPr>
              <a:t>Personalised recommendation engine</a:t>
            </a:r>
          </a:p>
        </p:txBody>
      </p:sp>
      <p:sp>
        <p:nvSpPr>
          <p:cNvPr id="14" name="TextBox 13"/>
          <p:cNvSpPr txBox="1"/>
          <p:nvPr/>
        </p:nvSpPr>
        <p:spPr>
          <a:xfrm>
            <a:off x="822960" y="5120640"/>
            <a:ext cx="10515600" cy="365760"/>
          </a:xfrm>
          <a:prstGeom prst="rect">
            <a:avLst/>
          </a:prstGeom>
          <a:noFill/>
        </p:spPr>
        <p:txBody>
          <a:bodyPr wrap="square" anchor="t">
            <a:spAutoFit/>
          </a:bodyPr>
          <a:lstStyle/>
          <a:p>
            <a:pPr algn="ctr"/>
            <a:r>
              <a:rPr sz="1200" b="1">
                <a:solidFill>
                  <a:srgbClr val="10B981"/>
                </a:solidFill>
                <a:latin typeface="Segoe UI"/>
              </a:rPr>
              <a:t>Future scope</a:t>
            </a:r>
          </a:p>
        </p:txBody>
      </p:sp>
      <p:sp>
        <p:nvSpPr>
          <p:cNvPr id="15" name="Rectangle 14"/>
          <p:cNvSpPr/>
          <p:nvPr/>
        </p:nvSpPr>
        <p:spPr>
          <a:xfrm>
            <a:off x="4937760" y="5715000"/>
            <a:ext cx="2286000" cy="45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5897880"/>
            <a:ext cx="10515600" cy="365760"/>
          </a:xfrm>
          <a:prstGeom prst="rect">
            <a:avLst/>
          </a:prstGeom>
          <a:noFill/>
        </p:spPr>
        <p:txBody>
          <a:bodyPr wrap="square" anchor="t">
            <a:spAutoFit/>
          </a:bodyPr>
          <a:lstStyle/>
          <a:p>
            <a:pPr algn="ctr"/>
            <a:r>
              <a:rPr sz="1300" b="0">
                <a:solidFill>
                  <a:srgbClr val="5B7770"/>
                </a:solidFill>
                <a:latin typeface="Segoe UI"/>
              </a:rPr>
              <a:t>CartIQ  ·  Python  ·  scikit-learn  ·  Flask  ·  50,000 baskets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